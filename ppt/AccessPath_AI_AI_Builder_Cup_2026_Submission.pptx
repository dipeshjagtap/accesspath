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jpg"/><Relationship Id="rId4" Type="http://schemas.openxmlformats.org/officeDocument/2006/relationships/image" Target="../media/image-11-4.jpg"/><Relationship Id="rId5" Type="http://schemas.openxmlformats.org/officeDocument/2006/relationships/image" Target="../media/image-11-5.jpg"/><Relationship Id="rId6" Type="http://schemas.openxmlformats.org/officeDocument/2006/relationships/image" Target="../media/image-11-6.jp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p:bgPr>
    </p:bg>
    <p:spTree>
      <p:nvGrpSpPr>
        <p:cNvPr id="1" name=""/>
        <p:cNvGrpSpPr/>
        <p:nvPr/>
      </p:nvGrpSpPr>
      <p:grpSpPr>
        <a:xfrm>
          <a:off x="0" y="0"/>
          <a:ext cx="0" cy="0"/>
          <a:chOff x="0" y="0"/>
          <a:chExt cx="0" cy="0"/>
        </a:xfrm>
      </p:grpSpPr>
      <p:pic>
        <p:nvPicPr>
          <p:cNvPr id="2" name="Image 0" descr="/home/srvweblpubt02/Documents/personal/accesspath/ppt/assets/slide1-hero.png">    </p:cNvPr>
          <p:cNvPicPr>
            <a:picLocks noChangeAspect="1"/>
          </p:cNvPicPr>
          <p:nvPr/>
        </p:nvPicPr>
        <p:blipFill>
          <a:blip r:embed="rId1"/>
          <a:stretch>
            <a:fillRect/>
          </a:stretch>
        </p:blipFill>
        <p:spPr>
          <a:xfrm>
            <a:off x="0" y="-3"/>
            <a:ext cx="9144000" cy="2715526"/>
          </a:xfrm>
          <a:prstGeom prst="rect">
            <a:avLst/>
          </a:prstGeom>
        </p:spPr>
      </p:pic>
      <p:pic>
        <p:nvPicPr>
          <p:cNvPr id="3" name="Image 1" descr="/home/srvweblpubt02/Documents/personal/accesspath/ppt/assets/footer-strip-source.png">    </p:cNvPr>
          <p:cNvPicPr>
            <a:picLocks noChangeAspect="1"/>
          </p:cNvPicPr>
          <p:nvPr/>
        </p:nvPicPr>
        <p:blipFill>
          <a:blip r:embed="rId2"/>
          <a:stretch>
            <a:fillRect/>
          </a:stretch>
        </p:blipFill>
        <p:spPr>
          <a:xfrm>
            <a:off x="0" y="5093562"/>
            <a:ext cx="9144000" cy="54275"/>
          </a:xfrm>
          <a:prstGeom prst="rect">
            <a:avLst/>
          </a:prstGeom>
        </p:spPr>
      </p:pic>
      <p:sp>
        <p:nvSpPr>
          <p:cNvPr id="4" name="Text 0"/>
          <p:cNvSpPr/>
          <p:nvPr/>
        </p:nvSpPr>
        <p:spPr>
          <a:xfrm>
            <a:off x="265176" y="2898648"/>
            <a:ext cx="8229600" cy="36576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Team Details</a:t>
            </a:r>
            <a:endParaRPr lang="en-US" sz="2800" dirty="0"/>
          </a:p>
        </p:txBody>
      </p:sp>
      <p:sp>
        <p:nvSpPr>
          <p:cNvPr id="5" name="Text 1"/>
          <p:cNvSpPr/>
          <p:nvPr/>
        </p:nvSpPr>
        <p:spPr>
          <a:xfrm>
            <a:off x="265176" y="3246120"/>
            <a:ext cx="8412480" cy="1554480"/>
          </a:xfrm>
          <a:prstGeom prst="rect">
            <a:avLst/>
          </a:prstGeom>
          <a:noFill/>
          <a:ln/>
        </p:spPr>
        <p:txBody>
          <a:bodyPr wrap="square" rtlCol="0" anchor="t"/>
          <a:lstStyle/>
          <a:p>
            <a:pPr indent="0" marL="0">
              <a:buNone/>
            </a:pPr>
            <a:r>
              <a:rPr lang="en-US" sz="1300" b="1" dirty="0">
                <a:solidFill>
                  <a:srgbClr val="E8E8E8"/>
                </a:solidFill>
                <a:latin typeface="Arial" pitchFamily="34" charset="0"/>
                <a:ea typeface="Arial" pitchFamily="34" charset="-122"/>
                <a:cs typeface="Arial" pitchFamily="34" charset="-120"/>
              </a:rPr>
              <a:t>Team name: </a:t>
            </a:r>
            <a:pPr indent="0" marL="0">
              <a:buNone/>
            </a:pPr>
            <a:r>
              <a:rPr lang="en-US" sz="1300" dirty="0">
                <a:solidFill>
                  <a:srgbClr val="E8E8E8"/>
                </a:solidFill>
                <a:latin typeface="Arial" pitchFamily="34" charset="0"/>
                <a:ea typeface="Arial" pitchFamily="34" charset="-122"/>
                <a:cs typeface="Arial" pitchFamily="34" charset="-120"/>
              </a:rPr>
              <a:t>AccessPath AI</a:t>
            </a:r>
            <a:endParaRPr lang="en-US" sz="1300" dirty="0"/>
          </a:p>
          <a:p>
            <a:pPr indent="0" marL="0">
              <a:buNone/>
            </a:pPr>
            <a:r>
              <a:rPr lang="en-US" sz="1300" b="1" dirty="0">
                <a:solidFill>
                  <a:srgbClr val="E8E8E8"/>
                </a:solidFill>
                <a:latin typeface="Arial" pitchFamily="34" charset="0"/>
                <a:ea typeface="Arial" pitchFamily="34" charset="-122"/>
                <a:cs typeface="Arial" pitchFamily="34" charset="-120"/>
              </a:rPr>
              <a:t>Team leader name: </a:t>
            </a:r>
            <a:pPr indent="0" marL="0">
              <a:buNone/>
            </a:pPr>
            <a:r>
              <a:rPr lang="en-US" sz="1300" dirty="0">
                <a:solidFill>
                  <a:srgbClr val="E8E8E8"/>
                </a:solidFill>
                <a:latin typeface="Arial" pitchFamily="34" charset="0"/>
                <a:ea typeface="Arial" pitchFamily="34" charset="-122"/>
                <a:cs typeface="Arial" pitchFamily="34" charset="-120"/>
              </a:rPr>
              <a:t>Dipesh Jagtap</a:t>
            </a:r>
            <a:endParaRPr lang="en-US" sz="1300" dirty="0"/>
          </a:p>
          <a:p>
            <a:pPr indent="0" marL="0">
              <a:buNone/>
            </a:pPr>
            <a:r>
              <a:rPr lang="en-US" sz="1300" b="1" dirty="0">
                <a:solidFill>
                  <a:srgbClr val="E8E8E8"/>
                </a:solidFill>
                <a:latin typeface="Arial" pitchFamily="34" charset="0"/>
                <a:ea typeface="Arial" pitchFamily="34" charset="-122"/>
                <a:cs typeface="Arial" pitchFamily="34" charset="-120"/>
              </a:rPr>
              <a:t>Problem Statement: </a:t>
            </a:r>
            <a:pPr indent="0" marL="0">
              <a:buNone/>
            </a:pPr>
            <a:r>
              <a:rPr lang="en-US" sz="1300" dirty="0">
                <a:solidFill>
                  <a:srgbClr val="E8E8E8"/>
                </a:solidFill>
                <a:latin typeface="Arial" pitchFamily="34" charset="0"/>
                <a:ea typeface="Arial" pitchFamily="34" charset="-122"/>
                <a:cs typeface="Arial" pitchFamily="34" charset="-120"/>
              </a:rPr>
              <a:t>People seeking mobility and related support—and their caregivers—struggle to find trustworthy resources, understand next steps, and coordinate referrals. Support organisations often track cases in spreadsheets and chats, with little visibility into whether assistance was actually delivered.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A"/>
        </a:solidFill>
      </p:bgPr>
    </p:bg>
    <p:spTree>
      <p:nvGrpSpPr>
        <p:cNvPr id="1" name=""/>
        <p:cNvGrpSpPr/>
        <p:nvPr/>
      </p:nvGrpSpPr>
      <p:grpSpPr>
        <a:xfrm>
          <a:off x="0" y="0"/>
          <a:ext cx="0" cy="0"/>
          <a:chOff x="0" y="0"/>
          <a:chExt cx="0" cy="0"/>
        </a:xfrm>
      </p:grpSpPr>
      <p:pic>
        <p:nvPicPr>
          <p:cNvPr id="2" name="Image 0" descr="/home/srvweblpubt02/Documents/personal/accesspath/ppt/assets/header-bar.png">    </p:cNvPr>
          <p:cNvPicPr>
            <a:picLocks noChangeAspect="1"/>
          </p:cNvPicPr>
          <p:nvPr/>
        </p:nvPicPr>
        <p:blipFill>
          <a:blip r:embed="rId1"/>
          <a:stretch>
            <a:fillRect/>
          </a:stretch>
        </p:blipFill>
        <p:spPr>
          <a:xfrm>
            <a:off x="0" y="1"/>
            <a:ext cx="9144000" cy="507359"/>
          </a:xfrm>
          <a:prstGeom prst="rect">
            <a:avLst/>
          </a:prstGeom>
        </p:spPr>
      </p:pic>
      <p:pic>
        <p:nvPicPr>
          <p:cNvPr id="3" name="Image 1" descr="/home/srvweblpubt02/Documents/personal/accesspath/ppt/assets/footer-strip-source.png">    </p:cNvPr>
          <p:cNvPicPr>
            <a:picLocks noChangeAspect="1"/>
          </p:cNvPicPr>
          <p:nvPr/>
        </p:nvPicPr>
        <p:blipFill>
          <a:blip r:embed="rId2"/>
          <a:stretch>
            <a:fillRect/>
          </a:stretch>
        </p:blipFill>
        <p:spPr>
          <a:xfrm>
            <a:off x="0" y="5093562"/>
            <a:ext cx="9144000" cy="54275"/>
          </a:xfrm>
          <a:prstGeom prst="rect">
            <a:avLst/>
          </a:prstGeom>
        </p:spPr>
      </p:pic>
      <p:sp>
        <p:nvSpPr>
          <p:cNvPr id="4" name="Text 0"/>
          <p:cNvSpPr/>
          <p:nvPr/>
        </p:nvSpPr>
        <p:spPr>
          <a:xfrm>
            <a:off x="265176" y="521208"/>
            <a:ext cx="8613648" cy="41148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AccessPath AI</a:t>
            </a:r>
            <a:endParaRPr lang="en-US" sz="2600" dirty="0"/>
          </a:p>
        </p:txBody>
      </p:sp>
      <p:sp>
        <p:nvSpPr>
          <p:cNvPr id="5" name="Text 1"/>
          <p:cNvSpPr/>
          <p:nvPr/>
        </p:nvSpPr>
        <p:spPr>
          <a:xfrm>
            <a:off x="265176" y="978408"/>
            <a:ext cx="8229600" cy="320040"/>
          </a:xfrm>
          <a:prstGeom prst="rect">
            <a:avLst/>
          </a:prstGeom>
          <a:noFill/>
          <a:ln/>
        </p:spPr>
        <p:txBody>
          <a:bodyPr wrap="square" rtlCol="0" anchor="ctr"/>
          <a:lstStyle/>
          <a:p>
            <a:pPr indent="0" marL="0">
              <a:buNone/>
            </a:pPr>
            <a:r>
              <a:rPr lang="en-US" sz="1800" i="1" dirty="0">
                <a:solidFill>
                  <a:srgbClr val="4285F4"/>
                </a:solidFill>
                <a:latin typeface="Arial" pitchFamily="34" charset="0"/>
                <a:ea typeface="Arial" pitchFamily="34" charset="-122"/>
                <a:cs typeface="Arial" pitchFamily="34" charset="-120"/>
              </a:rPr>
              <a:t>From unmet need to delivered support</a:t>
            </a:r>
            <a:endParaRPr lang="en-US" sz="1800" dirty="0"/>
          </a:p>
        </p:txBody>
      </p:sp>
      <p:sp>
        <p:nvSpPr>
          <p:cNvPr id="6" name="Text 2"/>
          <p:cNvSpPr/>
          <p:nvPr/>
        </p:nvSpPr>
        <p:spPr>
          <a:xfrm>
            <a:off x="265176" y="1435608"/>
            <a:ext cx="8613648" cy="2926080"/>
          </a:xfrm>
          <a:prstGeom prst="rect">
            <a:avLst/>
          </a:prstGeom>
          <a:noFill/>
          <a:ln/>
        </p:spPr>
        <p:txBody>
          <a:bodyPr wrap="square" rtlCol="0" anchor="t"/>
          <a:lstStyle/>
          <a:p>
            <a:pPr marL="342900" indent="-342900">
              <a:buSzPct val="100000"/>
              <a:buChar char="•"/>
            </a:pPr>
            <a:r>
              <a:rPr lang="en-US" sz="1400" dirty="0">
                <a:solidFill>
                  <a:srgbClr val="E8E8E8"/>
                </a:solidFill>
                <a:latin typeface="Arial" pitchFamily="34" charset="0"/>
                <a:ea typeface="Arial" pitchFamily="34" charset="-122"/>
                <a:cs typeface="Arial" pitchFamily="34" charset="-120"/>
              </a:rPr>
              <a:t>AI-powered navigation and coordination for multi-category support in India (education, essential needs, disability/health).</a:t>
            </a:r>
            <a:endParaRPr lang="en-US" sz="1400" dirty="0"/>
          </a:p>
          <a:p>
            <a:pPr marL="342900" indent="-342900">
              <a:buSzPct val="100000"/>
              <a:buChar char="•"/>
            </a:pPr>
            <a:r>
              <a:rPr lang="en-US" sz="1400" dirty="0">
                <a:solidFill>
                  <a:srgbClr val="E8E8E8"/>
                </a:solidFill>
                <a:latin typeface="Arial" pitchFamily="34" charset="0"/>
                <a:ea typeface="Arial" pitchFamily="34" charset="-122"/>
                <a:cs typeface="Arial" pitchFamily="34" charset="-120"/>
              </a:rPr>
              <a:t>Users describe a need → confirm a summary → receive a grounded plan → discover verified programmes → consent to a referral → track outcomes.</a:t>
            </a:r>
            <a:endParaRPr lang="en-US" sz="1400" dirty="0"/>
          </a:p>
          <a:p>
            <a:pPr marL="342900" indent="-342900">
              <a:buSzPct val="100000"/>
              <a:buChar char="•"/>
            </a:pPr>
            <a:r>
              <a:rPr lang="en-US" sz="1400" dirty="0">
                <a:solidFill>
                  <a:srgbClr val="E8E8E8"/>
                </a:solidFill>
                <a:latin typeface="Arial" pitchFamily="34" charset="0"/>
                <a:ea typeface="Arial" pitchFamily="34" charset="-122"/>
                <a:cs typeface="Arial" pitchFamily="34" charset="-120"/>
              </a:rPr>
              <a:t>Organisations publish programmes and manage cases; admins verify provider identity evidence.</a:t>
            </a:r>
            <a:endParaRPr lang="en-US" sz="1400" dirty="0"/>
          </a:p>
          <a:p>
            <a:pPr marL="342900" indent="-342900">
              <a:buSzPct val="100000"/>
              <a:buChar char="•"/>
            </a:pPr>
            <a:r>
              <a:rPr lang="en-US" sz="1400" dirty="0">
                <a:solidFill>
                  <a:srgbClr val="E8E8E8"/>
                </a:solidFill>
                <a:latin typeface="Arial" pitchFamily="34" charset="0"/>
                <a:ea typeface="Arial" pitchFamily="34" charset="-122"/>
                <a:cs typeface="Arial" pitchFamily="34" charset="-120"/>
              </a:rPr>
              <a:t>Not a medical diagnosis system, device prescription tool, or guaranteed-benefits service.</a:t>
            </a:r>
            <a:endParaRPr lang="en-US" sz="1400" dirty="0"/>
          </a:p>
          <a:p>
            <a:pPr marL="342900" indent="-342900">
              <a:buSzPct val="100000"/>
              <a:buChar char="•"/>
            </a:pPr>
            <a:r>
              <a:rPr lang="en-US" sz="1400" dirty="0">
                <a:solidFill>
                  <a:srgbClr val="E8E8E8"/>
                </a:solidFill>
                <a:latin typeface="Arial" pitchFamily="34" charset="0"/>
                <a:ea typeface="Arial" pitchFamily="34" charset="-122"/>
                <a:cs typeface="Arial" pitchFamily="34" charset="-120"/>
              </a:rPr>
              <a:t>Hackathon demo uses clearly labelled fictional seed data (Pune, Maharashtra demo region).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A"/>
        </a:solidFill>
      </p:bgPr>
    </p:bg>
    <p:spTree>
      <p:nvGrpSpPr>
        <p:cNvPr id="1" name=""/>
        <p:cNvGrpSpPr/>
        <p:nvPr/>
      </p:nvGrpSpPr>
      <p:grpSpPr>
        <a:xfrm>
          <a:off x="0" y="0"/>
          <a:ext cx="0" cy="0"/>
          <a:chOff x="0" y="0"/>
          <a:chExt cx="0" cy="0"/>
        </a:xfrm>
      </p:grpSpPr>
      <p:pic>
        <p:nvPicPr>
          <p:cNvPr id="2" name="Image 0" descr="/home/srvweblpubt02/Documents/personal/accesspath/ppt/assets/header-bar.png">    </p:cNvPr>
          <p:cNvPicPr>
            <a:picLocks noChangeAspect="1"/>
          </p:cNvPicPr>
          <p:nvPr/>
        </p:nvPicPr>
        <p:blipFill>
          <a:blip r:embed="rId1"/>
          <a:stretch>
            <a:fillRect/>
          </a:stretch>
        </p:blipFill>
        <p:spPr>
          <a:xfrm>
            <a:off x="0" y="1"/>
            <a:ext cx="9144000" cy="507359"/>
          </a:xfrm>
          <a:prstGeom prst="rect">
            <a:avLst/>
          </a:prstGeom>
        </p:spPr>
      </p:pic>
      <p:pic>
        <p:nvPicPr>
          <p:cNvPr id="3" name="Image 1" descr="/home/srvweblpubt02/Documents/personal/accesspath/ppt/assets/footer-strip-source.png">    </p:cNvPr>
          <p:cNvPicPr>
            <a:picLocks noChangeAspect="1"/>
          </p:cNvPicPr>
          <p:nvPr/>
        </p:nvPicPr>
        <p:blipFill>
          <a:blip r:embed="rId2"/>
          <a:stretch>
            <a:fillRect/>
          </a:stretch>
        </p:blipFill>
        <p:spPr>
          <a:xfrm>
            <a:off x="0" y="5093562"/>
            <a:ext cx="9144000" cy="54275"/>
          </a:xfrm>
          <a:prstGeom prst="rect">
            <a:avLst/>
          </a:prstGeom>
        </p:spPr>
      </p:pic>
      <p:sp>
        <p:nvSpPr>
          <p:cNvPr id="4" name="Text 0"/>
          <p:cNvSpPr/>
          <p:nvPr/>
        </p:nvSpPr>
        <p:spPr>
          <a:xfrm>
            <a:off x="265176" y="521208"/>
            <a:ext cx="8613648" cy="41148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Brief about the idea</a:t>
            </a:r>
            <a:endParaRPr lang="en-US" sz="2600" dirty="0"/>
          </a:p>
        </p:txBody>
      </p:sp>
      <p:sp>
        <p:nvSpPr>
          <p:cNvPr id="5" name="Text 1"/>
          <p:cNvSpPr/>
          <p:nvPr/>
        </p:nvSpPr>
        <p:spPr>
          <a:xfrm>
            <a:off x="265176" y="1024128"/>
            <a:ext cx="8613648" cy="3383280"/>
          </a:xfrm>
          <a:prstGeom prst="rect">
            <a:avLst/>
          </a:prstGeom>
          <a:noFill/>
          <a:ln/>
        </p:spPr>
        <p:txBody>
          <a:bodyPr wrap="square" rtlCol="0" anchor="t"/>
          <a:lstStyle/>
          <a:p>
            <a:pPr marL="342900" indent="-342900">
              <a:buSzPct val="100000"/>
              <a:buChar char="•"/>
            </a:pPr>
            <a:r>
              <a:rPr lang="en-US" sz="1350" dirty="0">
                <a:solidFill>
                  <a:srgbClr val="E8E8E8"/>
                </a:solidFill>
                <a:latin typeface="Arial" pitchFamily="34" charset="0"/>
                <a:ea typeface="Arial" pitchFamily="34" charset="-122"/>
                <a:cs typeface="Arial" pitchFamily="34" charset="-120"/>
              </a:rPr>
              <a:t>Observed problem: support information is fragmented across NGOs, clinics, schemes, and informal channels; caregivers repeatedly re-explain the same situation.</a:t>
            </a:r>
            <a:endParaRPr lang="en-US" sz="1350" dirty="0"/>
          </a:p>
          <a:p>
            <a:pPr marL="342900" indent="-342900">
              <a:buSzPct val="100000"/>
              <a:buChar char="•"/>
            </a:pPr>
            <a:r>
              <a:rPr lang="en-US" sz="1350" dirty="0">
                <a:solidFill>
                  <a:srgbClr val="E8E8E8"/>
                </a:solidFill>
                <a:latin typeface="Arial" pitchFamily="34" charset="0"/>
                <a:ea typeface="Arial" pitchFamily="34" charset="-122"/>
                <a:cs typeface="Arial" pitchFamily="34" charset="-120"/>
              </a:rPr>
              <a:t>Organisational pain: referrals stall without shared checklists, consent records, or outcome tracking beyond “sent a message.”</a:t>
            </a:r>
            <a:endParaRPr lang="en-US" sz="1350" dirty="0"/>
          </a:p>
          <a:p>
            <a:pPr marL="342900" indent="-342900">
              <a:buSzPct val="100000"/>
              <a:buChar char="•"/>
            </a:pPr>
            <a:r>
              <a:rPr lang="en-US" sz="1350" dirty="0">
                <a:solidFill>
                  <a:srgbClr val="E8E8E8"/>
                </a:solidFill>
                <a:latin typeface="Arial" pitchFamily="34" charset="0"/>
                <a:ea typeface="Arial" pitchFamily="34" charset="-122"/>
                <a:cs typeface="Arial" pitchFamily="34" charset="-120"/>
              </a:rPr>
              <a:t>Idea: a guided journey that turns a stated need into a structured, actionable plan grounded only in curated database records.</a:t>
            </a:r>
            <a:endParaRPr lang="en-US" sz="1350" dirty="0"/>
          </a:p>
          <a:p>
            <a:pPr marL="342900" indent="-342900">
              <a:buSzPct val="100000"/>
              <a:buChar char="•"/>
            </a:pPr>
            <a:r>
              <a:rPr lang="en-US" sz="1350" dirty="0">
                <a:solidFill>
                  <a:srgbClr val="E8E8E8"/>
                </a:solidFill>
                <a:latin typeface="Arial" pitchFamily="34" charset="0"/>
                <a:ea typeface="Arial" pitchFamily="34" charset="-122"/>
                <a:cs typeface="Arial" pitchFamily="34" charset="-120"/>
              </a:rPr>
              <a:t>Gemini on Vertex AI explains matched programmes in plain language; matching itself is deterministic against published, verified programmes.</a:t>
            </a:r>
            <a:endParaRPr lang="en-US" sz="1350" dirty="0"/>
          </a:p>
          <a:p>
            <a:pPr marL="342900" indent="-342900">
              <a:buSzPct val="100000"/>
              <a:buChar char="•"/>
            </a:pPr>
            <a:r>
              <a:rPr lang="en-US" sz="1350" dirty="0">
                <a:solidFill>
                  <a:srgbClr val="E8E8E8"/>
                </a:solidFill>
                <a:latin typeface="Arial" pitchFamily="34" charset="0"/>
                <a:ea typeface="Arial" pitchFamily="34" charset="-122"/>
                <a:cs typeface="Arial" pitchFamily="34" charset="-120"/>
              </a:rPr>
              <a:t>Consent is explicit and field-level before any personal data is shared with a partner organisation.</a:t>
            </a:r>
            <a:endParaRPr lang="en-US" sz="1350" dirty="0"/>
          </a:p>
          <a:p>
            <a:pPr marL="342900" indent="-342900">
              <a:buSzPct val="100000"/>
              <a:buChar char="•"/>
            </a:pPr>
            <a:r>
              <a:rPr lang="en-US" sz="1350" dirty="0">
                <a:solidFill>
                  <a:srgbClr val="E8E8E8"/>
                </a:solidFill>
                <a:latin typeface="Arial" pitchFamily="34" charset="0"/>
                <a:ea typeface="Arial" pitchFamily="34" charset="-122"/>
                <a:cs typeface="Arial" pitchFamily="34" charset="-120"/>
              </a:rPr>
              <a:t>Success metric focus: completed referrals and recorded outcomes—not clicks or AI prose alone.</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A"/>
        </a:solidFill>
      </p:bgPr>
    </p:bg>
    <p:spTree>
      <p:nvGrpSpPr>
        <p:cNvPr id="1" name=""/>
        <p:cNvGrpSpPr/>
        <p:nvPr/>
      </p:nvGrpSpPr>
      <p:grpSpPr>
        <a:xfrm>
          <a:off x="0" y="0"/>
          <a:ext cx="0" cy="0"/>
          <a:chOff x="0" y="0"/>
          <a:chExt cx="0" cy="0"/>
        </a:xfrm>
      </p:grpSpPr>
      <p:pic>
        <p:nvPicPr>
          <p:cNvPr id="2" name="Image 0" descr="/home/srvweblpubt02/Documents/personal/accesspath/ppt/assets/header-bar.png">    </p:cNvPr>
          <p:cNvPicPr>
            <a:picLocks noChangeAspect="1"/>
          </p:cNvPicPr>
          <p:nvPr/>
        </p:nvPicPr>
        <p:blipFill>
          <a:blip r:embed="rId1"/>
          <a:stretch>
            <a:fillRect/>
          </a:stretch>
        </p:blipFill>
        <p:spPr>
          <a:xfrm>
            <a:off x="0" y="1"/>
            <a:ext cx="9144000" cy="507359"/>
          </a:xfrm>
          <a:prstGeom prst="rect">
            <a:avLst/>
          </a:prstGeom>
        </p:spPr>
      </p:pic>
      <p:pic>
        <p:nvPicPr>
          <p:cNvPr id="3" name="Image 1" descr="/home/srvweblpubt02/Documents/personal/accesspath/ppt/assets/footer-strip-source.png">    </p:cNvPr>
          <p:cNvPicPr>
            <a:picLocks noChangeAspect="1"/>
          </p:cNvPicPr>
          <p:nvPr/>
        </p:nvPicPr>
        <p:blipFill>
          <a:blip r:embed="rId2"/>
          <a:stretch>
            <a:fillRect/>
          </a:stretch>
        </p:blipFill>
        <p:spPr>
          <a:xfrm>
            <a:off x="0" y="5093562"/>
            <a:ext cx="9144000" cy="54275"/>
          </a:xfrm>
          <a:prstGeom prst="rect">
            <a:avLst/>
          </a:prstGeom>
        </p:spPr>
      </p:pic>
      <p:sp>
        <p:nvSpPr>
          <p:cNvPr id="4" name="Text 0"/>
          <p:cNvSpPr/>
          <p:nvPr/>
        </p:nvSpPr>
        <p:spPr>
          <a:xfrm>
            <a:off x="265176" y="521208"/>
            <a:ext cx="8613648" cy="41148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Opportunities</a:t>
            </a:r>
            <a:endParaRPr lang="en-US" sz="2600" dirty="0"/>
          </a:p>
        </p:txBody>
      </p:sp>
      <p:sp>
        <p:nvSpPr>
          <p:cNvPr id="5" name="Shape 1"/>
          <p:cNvSpPr/>
          <p:nvPr/>
        </p:nvSpPr>
        <p:spPr>
          <a:xfrm>
            <a:off x="265176" y="1024128"/>
            <a:ext cx="2743200" cy="3200400"/>
          </a:xfrm>
          <a:prstGeom prst="roundRect">
            <a:avLst>
              <a:gd name="adj" fmla="val 3333"/>
            </a:avLst>
          </a:prstGeom>
          <a:solidFill>
            <a:srgbClr val="1A1A1A"/>
          </a:solidFill>
          <a:ln w="12700">
            <a:solidFill>
              <a:srgbClr val="333333"/>
            </a:solidFill>
            <a:prstDash val="solid"/>
          </a:ln>
        </p:spPr>
      </p:sp>
      <p:sp>
        <p:nvSpPr>
          <p:cNvPr id="6" name="Text 2"/>
          <p:cNvSpPr/>
          <p:nvPr/>
        </p:nvSpPr>
        <p:spPr>
          <a:xfrm>
            <a:off x="402336" y="1161288"/>
            <a:ext cx="2468880" cy="64008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How different is it?</a:t>
            </a:r>
            <a:endParaRPr lang="en-US" sz="1400" dirty="0"/>
          </a:p>
        </p:txBody>
      </p:sp>
      <p:sp>
        <p:nvSpPr>
          <p:cNvPr id="7" name="Text 3"/>
          <p:cNvSpPr/>
          <p:nvPr/>
        </p:nvSpPr>
        <p:spPr>
          <a:xfrm>
            <a:off x="402336" y="1847088"/>
            <a:ext cx="2468880" cy="2194560"/>
          </a:xfrm>
          <a:prstGeom prst="rect">
            <a:avLst/>
          </a:prstGeom>
          <a:noFill/>
          <a:ln/>
        </p:spPr>
        <p:txBody>
          <a:bodyPr wrap="square" rtlCol="0" anchor="t"/>
          <a:lstStyle/>
          <a:p>
            <a:pPr marL="342900" indent="-342900">
              <a:buSzPct val="100000"/>
              <a:buChar char="•"/>
            </a:pPr>
            <a:r>
              <a:rPr lang="en-US" sz="1100" dirty="0">
                <a:solidFill>
                  <a:srgbClr val="E8E8E8"/>
                </a:solidFill>
                <a:latin typeface="Arial" pitchFamily="34" charset="0"/>
                <a:ea typeface="Arial" pitchFamily="34" charset="-122"/>
                <a:cs typeface="Arial" pitchFamily="34" charset="-120"/>
              </a:rPr>
              <a:t>DB-grounded matching first; AI explains—never invents providers or eligibility.</a:t>
            </a:r>
            <a:endParaRPr lang="en-US" sz="1100" dirty="0"/>
          </a:p>
          <a:p>
            <a:pPr marL="342900" indent="-342900">
              <a:buSzPct val="100000"/>
              <a:buChar char="•"/>
            </a:pPr>
            <a:r>
              <a:rPr lang="en-US" sz="1100" dirty="0">
                <a:solidFill>
                  <a:srgbClr val="E8E8E8"/>
                </a:solidFill>
                <a:latin typeface="Arial" pitchFamily="34" charset="0"/>
                <a:ea typeface="Arial" pitchFamily="34" charset="-122"/>
                <a:cs typeface="Arial" pitchFamily="34" charset="-120"/>
              </a:rPr>
              <a:t>Verification status + source + last-verified shown on listings.</a:t>
            </a:r>
            <a:endParaRPr lang="en-US" sz="1100" dirty="0"/>
          </a:p>
          <a:p>
            <a:pPr marL="342900" indent="-342900">
              <a:buSzPct val="100000"/>
              <a:buChar char="•"/>
            </a:pPr>
            <a:r>
              <a:rPr lang="en-US" sz="1100" dirty="0">
                <a:solidFill>
                  <a:srgbClr val="E8E8E8"/>
                </a:solidFill>
                <a:latin typeface="Arial" pitchFamily="34" charset="0"/>
                <a:ea typeface="Arial" pitchFamily="34" charset="-122"/>
                <a:cs typeface="Arial" pitchFamily="34" charset="-120"/>
              </a:rPr>
              <a:t>Consent-gated referrals with audit trail; outcomes ≠ submission.</a:t>
            </a:r>
            <a:endParaRPr lang="en-US" sz="1100" dirty="0"/>
          </a:p>
        </p:txBody>
      </p:sp>
      <p:sp>
        <p:nvSpPr>
          <p:cNvPr id="8" name="Shape 4"/>
          <p:cNvSpPr/>
          <p:nvPr/>
        </p:nvSpPr>
        <p:spPr>
          <a:xfrm>
            <a:off x="3145536" y="1024128"/>
            <a:ext cx="2743200" cy="3200400"/>
          </a:xfrm>
          <a:prstGeom prst="roundRect">
            <a:avLst>
              <a:gd name="adj" fmla="val 3333"/>
            </a:avLst>
          </a:prstGeom>
          <a:solidFill>
            <a:srgbClr val="1A1A1A"/>
          </a:solidFill>
          <a:ln w="12700">
            <a:solidFill>
              <a:srgbClr val="333333"/>
            </a:solidFill>
            <a:prstDash val="solid"/>
          </a:ln>
        </p:spPr>
      </p:sp>
      <p:sp>
        <p:nvSpPr>
          <p:cNvPr id="9" name="Text 5"/>
          <p:cNvSpPr/>
          <p:nvPr/>
        </p:nvSpPr>
        <p:spPr>
          <a:xfrm>
            <a:off x="3282696" y="1161288"/>
            <a:ext cx="2468880" cy="64008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How it solves the problem</a:t>
            </a:r>
            <a:endParaRPr lang="en-US" sz="1400" dirty="0"/>
          </a:p>
        </p:txBody>
      </p:sp>
      <p:sp>
        <p:nvSpPr>
          <p:cNvPr id="10" name="Text 6"/>
          <p:cNvSpPr/>
          <p:nvPr/>
        </p:nvSpPr>
        <p:spPr>
          <a:xfrm>
            <a:off x="3282696" y="1847088"/>
            <a:ext cx="2468880" cy="2194560"/>
          </a:xfrm>
          <a:prstGeom prst="rect">
            <a:avLst/>
          </a:prstGeom>
          <a:noFill/>
          <a:ln/>
        </p:spPr>
        <p:txBody>
          <a:bodyPr wrap="square" rtlCol="0" anchor="t"/>
          <a:lstStyle/>
          <a:p>
            <a:pPr marL="342900" indent="-342900">
              <a:buSzPct val="100000"/>
              <a:buChar char="•"/>
            </a:pPr>
            <a:r>
              <a:rPr lang="en-US" sz="1100" dirty="0">
                <a:solidFill>
                  <a:srgbClr val="E8E8E8"/>
                </a:solidFill>
                <a:latin typeface="Arial" pitchFamily="34" charset="0"/>
                <a:ea typeface="Arial" pitchFamily="34" charset="-122"/>
                <a:cs typeface="Arial" pitchFamily="34" charset="-120"/>
              </a:rPr>
              <a:t>One guided path from need → plan → programme → case.</a:t>
            </a:r>
            <a:endParaRPr lang="en-US" sz="1100" dirty="0"/>
          </a:p>
          <a:p>
            <a:pPr marL="342900" indent="-342900">
              <a:buSzPct val="100000"/>
              <a:buChar char="•"/>
            </a:pPr>
            <a:r>
              <a:rPr lang="en-US" sz="1100" dirty="0">
                <a:solidFill>
                  <a:srgbClr val="E8E8E8"/>
                </a:solidFill>
                <a:latin typeface="Arial" pitchFamily="34" charset="0"/>
                <a:ea typeface="Arial" pitchFamily="34" charset="-122"/>
                <a:cs typeface="Arial" pitchFamily="34" charset="-120"/>
              </a:rPr>
              <a:t>Persistent checklist keeps next actions visible.</a:t>
            </a:r>
            <a:endParaRPr lang="en-US" sz="1100" dirty="0"/>
          </a:p>
          <a:p>
            <a:pPr marL="342900" indent="-342900">
              <a:buSzPct val="100000"/>
              <a:buChar char="•"/>
            </a:pPr>
            <a:r>
              <a:rPr lang="en-US" sz="1100" dirty="0">
                <a:solidFill>
                  <a:srgbClr val="E8E8E8"/>
                </a:solidFill>
                <a:latin typeface="Arial" pitchFamily="34" charset="0"/>
                <a:ea typeface="Arial" pitchFamily="34" charset="-122"/>
                <a:cs typeface="Arial" pitchFamily="34" charset="-120"/>
              </a:rPr>
              <a:t>Org dashboard: accept, decline, request info, deliver, close.</a:t>
            </a:r>
            <a:endParaRPr lang="en-US" sz="1100" dirty="0"/>
          </a:p>
        </p:txBody>
      </p:sp>
      <p:sp>
        <p:nvSpPr>
          <p:cNvPr id="11" name="Shape 7"/>
          <p:cNvSpPr/>
          <p:nvPr/>
        </p:nvSpPr>
        <p:spPr>
          <a:xfrm>
            <a:off x="6025896" y="1024128"/>
            <a:ext cx="2743200" cy="3200400"/>
          </a:xfrm>
          <a:prstGeom prst="roundRect">
            <a:avLst>
              <a:gd name="adj" fmla="val 3333"/>
            </a:avLst>
          </a:prstGeom>
          <a:solidFill>
            <a:srgbClr val="1A1A1A"/>
          </a:solidFill>
          <a:ln w="12700">
            <a:solidFill>
              <a:srgbClr val="333333"/>
            </a:solidFill>
            <a:prstDash val="solid"/>
          </a:ln>
        </p:spPr>
      </p:sp>
      <p:sp>
        <p:nvSpPr>
          <p:cNvPr id="12" name="Text 8"/>
          <p:cNvSpPr/>
          <p:nvPr/>
        </p:nvSpPr>
        <p:spPr>
          <a:xfrm>
            <a:off x="6163056" y="1161288"/>
            <a:ext cx="2468880" cy="64008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USP of the solution</a:t>
            </a:r>
            <a:endParaRPr lang="en-US" sz="1400" dirty="0"/>
          </a:p>
        </p:txBody>
      </p:sp>
      <p:sp>
        <p:nvSpPr>
          <p:cNvPr id="13" name="Text 9"/>
          <p:cNvSpPr/>
          <p:nvPr/>
        </p:nvSpPr>
        <p:spPr>
          <a:xfrm>
            <a:off x="6163056" y="1847088"/>
            <a:ext cx="2468880" cy="2194560"/>
          </a:xfrm>
          <a:prstGeom prst="rect">
            <a:avLst/>
          </a:prstGeom>
          <a:noFill/>
          <a:ln/>
        </p:spPr>
        <p:txBody>
          <a:bodyPr wrap="square" rtlCol="0" anchor="t"/>
          <a:lstStyle/>
          <a:p>
            <a:pPr marL="342900" indent="-342900">
              <a:buSzPct val="100000"/>
              <a:buChar char="•"/>
            </a:pPr>
            <a:r>
              <a:rPr lang="en-US" sz="1100" dirty="0">
                <a:solidFill>
                  <a:srgbClr val="E8E8E8"/>
                </a:solidFill>
                <a:latin typeface="Arial" pitchFamily="34" charset="0"/>
                <a:ea typeface="Arial" pitchFamily="34" charset="-122"/>
                <a:cs typeface="Arial" pitchFamily="34" charset="-120"/>
              </a:rPr>
              <a:t>Trust architecture: grounding + verification + consent + outcomes.</a:t>
            </a:r>
            <a:endParaRPr lang="en-US" sz="1100" dirty="0"/>
          </a:p>
          <a:p>
            <a:pPr marL="342900" indent="-342900">
              <a:buSzPct val="100000"/>
              <a:buChar char="•"/>
            </a:pPr>
            <a:r>
              <a:rPr lang="en-US" sz="1100" dirty="0">
                <a:solidFill>
                  <a:srgbClr val="E8E8E8"/>
                </a:solidFill>
                <a:latin typeface="Arial" pitchFamily="34" charset="0"/>
                <a:ea typeface="Arial" pitchFamily="34" charset="-122"/>
                <a:cs typeface="Arial" pitchFamily="34" charset="-120"/>
              </a:rPr>
              <a:t>Deterministic fallback when Vertex AI is unavailable.</a:t>
            </a:r>
            <a:endParaRPr lang="en-US" sz="1100" dirty="0"/>
          </a:p>
          <a:p>
            <a:pPr marL="342900" indent="-342900">
              <a:buSzPct val="100000"/>
              <a:buChar char="•"/>
            </a:pPr>
            <a:r>
              <a:rPr lang="en-US" sz="1100" dirty="0">
                <a:solidFill>
                  <a:srgbClr val="E8E8E8"/>
                </a:solidFill>
                <a:latin typeface="Arial" pitchFamily="34" charset="0"/>
                <a:ea typeface="Arial" pitchFamily="34" charset="-122"/>
                <a:cs typeface="Arial" pitchFamily="34" charset="-120"/>
              </a:rPr>
              <a:t>B2B/B2B2C: orgs pay for coordination; user guidance free in pilot.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A"/>
        </a:solidFill>
      </p:bgPr>
    </p:bg>
    <p:spTree>
      <p:nvGrpSpPr>
        <p:cNvPr id="1" name=""/>
        <p:cNvGrpSpPr/>
        <p:nvPr/>
      </p:nvGrpSpPr>
      <p:grpSpPr>
        <a:xfrm>
          <a:off x="0" y="0"/>
          <a:ext cx="0" cy="0"/>
          <a:chOff x="0" y="0"/>
          <a:chExt cx="0" cy="0"/>
        </a:xfrm>
      </p:grpSpPr>
      <p:pic>
        <p:nvPicPr>
          <p:cNvPr id="2" name="Image 0" descr="/home/srvweblpubt02/Documents/personal/accesspath/ppt/assets/header-bar.png">    </p:cNvPr>
          <p:cNvPicPr>
            <a:picLocks noChangeAspect="1"/>
          </p:cNvPicPr>
          <p:nvPr/>
        </p:nvPicPr>
        <p:blipFill>
          <a:blip r:embed="rId1"/>
          <a:stretch>
            <a:fillRect/>
          </a:stretch>
        </p:blipFill>
        <p:spPr>
          <a:xfrm>
            <a:off x="0" y="1"/>
            <a:ext cx="9144000" cy="507359"/>
          </a:xfrm>
          <a:prstGeom prst="rect">
            <a:avLst/>
          </a:prstGeom>
        </p:spPr>
      </p:pic>
      <p:pic>
        <p:nvPicPr>
          <p:cNvPr id="3" name="Image 1" descr="/home/srvweblpubt02/Documents/personal/accesspath/ppt/assets/footer-strip-source.png">    </p:cNvPr>
          <p:cNvPicPr>
            <a:picLocks noChangeAspect="1"/>
          </p:cNvPicPr>
          <p:nvPr/>
        </p:nvPicPr>
        <p:blipFill>
          <a:blip r:embed="rId2"/>
          <a:stretch>
            <a:fillRect/>
          </a:stretch>
        </p:blipFill>
        <p:spPr>
          <a:xfrm>
            <a:off x="0" y="5093562"/>
            <a:ext cx="9144000" cy="54275"/>
          </a:xfrm>
          <a:prstGeom prst="rect">
            <a:avLst/>
          </a:prstGeom>
        </p:spPr>
      </p:pic>
      <p:sp>
        <p:nvSpPr>
          <p:cNvPr id="4" name="Text 0"/>
          <p:cNvSpPr/>
          <p:nvPr/>
        </p:nvSpPr>
        <p:spPr>
          <a:xfrm>
            <a:off x="265176" y="521208"/>
            <a:ext cx="8613648" cy="41148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List of features offered by the solution</a:t>
            </a:r>
            <a:endParaRPr lang="en-US" sz="2600" dirty="0"/>
          </a:p>
        </p:txBody>
      </p:sp>
      <p:sp>
        <p:nvSpPr>
          <p:cNvPr id="5" name="Text 1"/>
          <p:cNvSpPr/>
          <p:nvPr/>
        </p:nvSpPr>
        <p:spPr>
          <a:xfrm>
            <a:off x="265176" y="1024128"/>
            <a:ext cx="4114800" cy="3291840"/>
          </a:xfrm>
          <a:prstGeom prst="rect">
            <a:avLst/>
          </a:prstGeom>
          <a:noFill/>
          <a:ln/>
        </p:spPr>
        <p:txBody>
          <a:bodyPr wrap="square" rtlCol="0" anchor="ctr"/>
          <a:lstStyle/>
          <a:p>
            <a:pPr marL="342900" indent="-342900">
              <a:buSzPct val="100000"/>
              <a:buChar char="•"/>
            </a:pPr>
            <a:r>
              <a:rPr lang="en-US" sz="1300" dirty="0">
                <a:solidFill>
                  <a:srgbClr val="E8E8E8"/>
                </a:solidFill>
                <a:latin typeface="Arial" pitchFamily="34" charset="0"/>
                <a:ea typeface="Arial" pitchFamily="34" charset="-122"/>
                <a:cs typeface="Arial" pitchFamily="34" charset="-120"/>
              </a:rPr>
              <a:t>Multi-category intake (education, essential needs, disability/health)</a:t>
            </a:r>
            <a:endParaRPr lang="en-US" sz="1300" dirty="0"/>
          </a:p>
          <a:p>
            <a:pPr marL="342900" indent="-342900">
              <a:buSzPct val="100000"/>
              <a:buChar char="•"/>
            </a:pPr>
            <a:r>
              <a:rPr lang="en-US" sz="1300" dirty="0">
                <a:solidFill>
                  <a:srgbClr val="E8E8E8"/>
                </a:solidFill>
                <a:latin typeface="Arial" pitchFamily="34" charset="0"/>
                <a:ea typeface="Arial" pitchFamily="34" charset="-122"/>
                <a:cs typeface="Arial" pitchFamily="34" charset="-120"/>
              </a:rPr>
              <a:t>Summary review &amp; confirmation before planning</a:t>
            </a:r>
            <a:endParaRPr lang="en-US" sz="1300" dirty="0"/>
          </a:p>
          <a:p>
            <a:pPr marL="342900" indent="-342900">
              <a:buSzPct val="100000"/>
              <a:buChar char="•"/>
            </a:pPr>
            <a:r>
              <a:rPr lang="en-US" sz="1300" dirty="0">
                <a:solidFill>
                  <a:srgbClr val="E8E8E8"/>
                </a:solidFill>
                <a:latin typeface="Arial" pitchFamily="34" charset="0"/>
                <a:ea typeface="Arial" pitchFamily="34" charset="-122"/>
                <a:cs typeface="Arial" pitchFamily="34" charset="-120"/>
              </a:rPr>
              <a:t>Gemini (Vertex AI) grounded navigation plan</a:t>
            </a:r>
            <a:endParaRPr lang="en-US" sz="1300" dirty="0"/>
          </a:p>
          <a:p>
            <a:pPr marL="342900" indent="-342900">
              <a:buSzPct val="100000"/>
              <a:buChar char="•"/>
            </a:pPr>
            <a:r>
              <a:rPr lang="en-US" sz="1300" dirty="0">
                <a:solidFill>
                  <a:srgbClr val="E8E8E8"/>
                </a:solidFill>
                <a:latin typeface="Arial" pitchFamily="34" charset="0"/>
                <a:ea typeface="Arial" pitchFamily="34" charset="-122"/>
                <a:cs typeface="Arial" pitchFamily="34" charset="-120"/>
              </a:rPr>
              <a:t>Deterministic fallback plan (no invented facts)</a:t>
            </a:r>
            <a:endParaRPr lang="en-US" sz="1300" dirty="0"/>
          </a:p>
          <a:p>
            <a:pPr marL="342900" indent="-342900">
              <a:buSzPct val="100000"/>
              <a:buChar char="•"/>
            </a:pPr>
            <a:r>
              <a:rPr lang="en-US" sz="1300" dirty="0">
                <a:solidFill>
                  <a:srgbClr val="E8E8E8"/>
                </a:solidFill>
                <a:latin typeface="Arial" pitchFamily="34" charset="0"/>
                <a:ea typeface="Arial" pitchFamily="34" charset="-122"/>
                <a:cs typeface="Arial" pitchFamily="34" charset="-120"/>
              </a:rPr>
              <a:t>Verified programme &amp; resource directory</a:t>
            </a:r>
            <a:endParaRPr lang="en-US" sz="1300" dirty="0"/>
          </a:p>
          <a:p>
            <a:pPr marL="342900" indent="-342900">
              <a:buSzPct val="100000"/>
              <a:buChar char="•"/>
            </a:pPr>
            <a:r>
              <a:rPr lang="en-US" sz="1300" dirty="0">
                <a:solidFill>
                  <a:srgbClr val="E8E8E8"/>
                </a:solidFill>
                <a:latin typeface="Arial" pitchFamily="34" charset="0"/>
                <a:ea typeface="Arial" pitchFamily="34" charset="-122"/>
                <a:cs typeface="Arial" pitchFamily="34" charset="-120"/>
              </a:rPr>
              <a:t>Persistent user checklist with status owners</a:t>
            </a:r>
            <a:endParaRPr lang="en-US" sz="1300" dirty="0"/>
          </a:p>
        </p:txBody>
      </p:sp>
      <p:sp>
        <p:nvSpPr>
          <p:cNvPr id="6" name="Text 2"/>
          <p:cNvSpPr/>
          <p:nvPr/>
        </p:nvSpPr>
        <p:spPr>
          <a:xfrm>
            <a:off x="4754880" y="1024128"/>
            <a:ext cx="4114800" cy="3291840"/>
          </a:xfrm>
          <a:prstGeom prst="rect">
            <a:avLst/>
          </a:prstGeom>
          <a:noFill/>
          <a:ln/>
        </p:spPr>
        <p:txBody>
          <a:bodyPr wrap="square" rtlCol="0" anchor="ctr"/>
          <a:lstStyle/>
          <a:p>
            <a:pPr marL="342900" indent="-342900">
              <a:buSzPct val="100000"/>
              <a:buChar char="•"/>
            </a:pPr>
            <a:r>
              <a:rPr lang="en-US" sz="1300" dirty="0">
                <a:solidFill>
                  <a:srgbClr val="E8E8E8"/>
                </a:solidFill>
                <a:latin typeface="Arial" pitchFamily="34" charset="0"/>
                <a:ea typeface="Arial" pitchFamily="34" charset="-122"/>
                <a:cs typeface="Arial" pitchFamily="34" charset="-120"/>
              </a:rPr>
              <a:t>Explicit field-level referral consent</a:t>
            </a:r>
            <a:endParaRPr lang="en-US" sz="1300" dirty="0"/>
          </a:p>
          <a:p>
            <a:pPr marL="342900" indent="-342900">
              <a:buSzPct val="100000"/>
              <a:buChar char="•"/>
            </a:pPr>
            <a:r>
              <a:rPr lang="en-US" sz="1300" dirty="0">
                <a:solidFill>
                  <a:srgbClr val="E8E8E8"/>
                </a:solidFill>
                <a:latin typeface="Arial" pitchFamily="34" charset="0"/>
                <a:ea typeface="Arial" pitchFamily="34" charset="-122"/>
                <a:cs typeface="Arial" pitchFamily="34" charset="-120"/>
              </a:rPr>
              <a:t>Case lifecycle to recorded outcomes</a:t>
            </a:r>
            <a:endParaRPr lang="en-US" sz="1300" dirty="0"/>
          </a:p>
          <a:p>
            <a:pPr marL="342900" indent="-342900">
              <a:buSzPct val="100000"/>
              <a:buChar char="•"/>
            </a:pPr>
            <a:r>
              <a:rPr lang="en-US" sz="1300" dirty="0">
                <a:solidFill>
                  <a:srgbClr val="E8E8E8"/>
                </a:solidFill>
                <a:latin typeface="Arial" pitchFamily="34" charset="0"/>
                <a:ea typeface="Arial" pitchFamily="34" charset="-122"/>
                <a:cs typeface="Arial" pitchFamily="34" charset="-120"/>
              </a:rPr>
              <a:t>Org workspace: programmes + caseboard</a:t>
            </a:r>
            <a:endParaRPr lang="en-US" sz="1300" dirty="0"/>
          </a:p>
          <a:p>
            <a:pPr marL="342900" indent="-342900">
              <a:buSzPct val="100000"/>
              <a:buChar char="•"/>
            </a:pPr>
            <a:r>
              <a:rPr lang="en-US" sz="1300" dirty="0">
                <a:solidFill>
                  <a:srgbClr val="E8E8E8"/>
                </a:solidFill>
                <a:latin typeface="Arial" pitchFamily="34" charset="0"/>
                <a:ea typeface="Arial" pitchFamily="34" charset="-122"/>
                <a:cs typeface="Arial" pitchFamily="34" charset="-120"/>
              </a:rPr>
              <a:t>Alternative pathway after decline/stall</a:t>
            </a:r>
            <a:endParaRPr lang="en-US" sz="1300" dirty="0"/>
          </a:p>
          <a:p>
            <a:pPr marL="342900" indent="-342900">
              <a:buSzPct val="100000"/>
              <a:buChar char="•"/>
            </a:pPr>
            <a:r>
              <a:rPr lang="en-US" sz="1300" dirty="0">
                <a:solidFill>
                  <a:srgbClr val="E8E8E8"/>
                </a:solidFill>
                <a:latin typeface="Arial" pitchFamily="34" charset="0"/>
                <a:ea typeface="Arial" pitchFamily="34" charset="-122"/>
                <a:cs typeface="Arial" pitchFamily="34" charset="-120"/>
              </a:rPr>
              <a:t>Admin verification evidence + audit events</a:t>
            </a:r>
            <a:endParaRPr lang="en-US" sz="1300" dirty="0"/>
          </a:p>
          <a:p>
            <a:pPr marL="342900" indent="-342900">
              <a:buSzPct val="100000"/>
              <a:buChar char="•"/>
            </a:pPr>
            <a:r>
              <a:rPr lang="en-US" sz="1300" dirty="0">
                <a:solidFill>
                  <a:srgbClr val="E8E8E8"/>
                </a:solidFill>
                <a:latin typeface="Arial" pitchFamily="34" charset="0"/>
                <a:ea typeface="Arial" pitchFamily="34" charset="-122"/>
                <a:cs typeface="Arial" pitchFamily="34" charset="-120"/>
              </a:rPr>
              <a:t>RBAC (user / org roles / platform admin)</a:t>
            </a:r>
            <a:endParaRPr lang="en-US" sz="1300" dirty="0"/>
          </a:p>
          <a:p>
            <a:pPr marL="342900" indent="-342900">
              <a:buSzPct val="100000"/>
              <a:buChar char="•"/>
            </a:pPr>
            <a:r>
              <a:rPr lang="en-US" sz="1300" dirty="0">
                <a:solidFill>
                  <a:srgbClr val="E8E8E8"/>
                </a:solidFill>
                <a:latin typeface="Arial" pitchFamily="34" charset="0"/>
                <a:ea typeface="Arial" pitchFamily="34" charset="-122"/>
                <a:cs typeface="Arial" pitchFamily="34" charset="-120"/>
              </a:rPr>
              <a:t>Cloud Run ready + /api/health</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A"/>
        </a:solidFill>
      </p:bgPr>
    </p:bg>
    <p:spTree>
      <p:nvGrpSpPr>
        <p:cNvPr id="1" name=""/>
        <p:cNvGrpSpPr/>
        <p:nvPr/>
      </p:nvGrpSpPr>
      <p:grpSpPr>
        <a:xfrm>
          <a:off x="0" y="0"/>
          <a:ext cx="0" cy="0"/>
          <a:chOff x="0" y="0"/>
          <a:chExt cx="0" cy="0"/>
        </a:xfrm>
      </p:grpSpPr>
      <p:pic>
        <p:nvPicPr>
          <p:cNvPr id="2" name="Image 0" descr="/home/srvweblpubt02/Documents/personal/accesspath/ppt/assets/header-bar.png">    </p:cNvPr>
          <p:cNvPicPr>
            <a:picLocks noChangeAspect="1"/>
          </p:cNvPicPr>
          <p:nvPr/>
        </p:nvPicPr>
        <p:blipFill>
          <a:blip r:embed="rId1"/>
          <a:stretch>
            <a:fillRect/>
          </a:stretch>
        </p:blipFill>
        <p:spPr>
          <a:xfrm>
            <a:off x="0" y="1"/>
            <a:ext cx="9144000" cy="507359"/>
          </a:xfrm>
          <a:prstGeom prst="rect">
            <a:avLst/>
          </a:prstGeom>
        </p:spPr>
      </p:pic>
      <p:pic>
        <p:nvPicPr>
          <p:cNvPr id="3" name="Image 1" descr="/home/srvweblpubt02/Documents/personal/accesspath/ppt/assets/footer-strip-source.png">    </p:cNvPr>
          <p:cNvPicPr>
            <a:picLocks noChangeAspect="1"/>
          </p:cNvPicPr>
          <p:nvPr/>
        </p:nvPicPr>
        <p:blipFill>
          <a:blip r:embed="rId2"/>
          <a:stretch>
            <a:fillRect/>
          </a:stretch>
        </p:blipFill>
        <p:spPr>
          <a:xfrm>
            <a:off x="0" y="5093562"/>
            <a:ext cx="9144000" cy="54275"/>
          </a:xfrm>
          <a:prstGeom prst="rect">
            <a:avLst/>
          </a:prstGeom>
        </p:spPr>
      </p:pic>
      <p:sp>
        <p:nvSpPr>
          <p:cNvPr id="4" name="Text 0"/>
          <p:cNvSpPr/>
          <p:nvPr/>
        </p:nvSpPr>
        <p:spPr>
          <a:xfrm>
            <a:off x="265176" y="521208"/>
            <a:ext cx="8613648" cy="41148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Process flow diagram or Use-case diagram</a:t>
            </a:r>
            <a:endParaRPr lang="en-US" sz="2600" dirty="0"/>
          </a:p>
        </p:txBody>
      </p:sp>
      <p:pic>
        <p:nvPicPr>
          <p:cNvPr id="5" name="Image 2" descr="/home/srvweblpubt02/Documents/personal/accesspath/ppt/assets/diagram-journey.png">    </p:cNvPr>
          <p:cNvPicPr>
            <a:picLocks noChangeAspect="1"/>
          </p:cNvPicPr>
          <p:nvPr/>
        </p:nvPicPr>
        <p:blipFill>
          <a:blip r:embed="rId3"/>
          <a:stretch>
            <a:fillRect/>
          </a:stretch>
        </p:blipFill>
        <p:spPr>
          <a:xfrm>
            <a:off x="182880" y="978408"/>
            <a:ext cx="8778240" cy="33832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A"/>
        </a:solidFill>
      </p:bgPr>
    </p:bg>
    <p:spTree>
      <p:nvGrpSpPr>
        <p:cNvPr id="1" name=""/>
        <p:cNvGrpSpPr/>
        <p:nvPr/>
      </p:nvGrpSpPr>
      <p:grpSpPr>
        <a:xfrm>
          <a:off x="0" y="0"/>
          <a:ext cx="0" cy="0"/>
          <a:chOff x="0" y="0"/>
          <a:chExt cx="0" cy="0"/>
        </a:xfrm>
      </p:grpSpPr>
      <p:pic>
        <p:nvPicPr>
          <p:cNvPr id="2" name="Image 0" descr="/home/srvweblpubt02/Documents/personal/accesspath/ppt/assets/header-bar.png">    </p:cNvPr>
          <p:cNvPicPr>
            <a:picLocks noChangeAspect="1"/>
          </p:cNvPicPr>
          <p:nvPr/>
        </p:nvPicPr>
        <p:blipFill>
          <a:blip r:embed="rId1"/>
          <a:stretch>
            <a:fillRect/>
          </a:stretch>
        </p:blipFill>
        <p:spPr>
          <a:xfrm>
            <a:off x="0" y="1"/>
            <a:ext cx="9144000" cy="507359"/>
          </a:xfrm>
          <a:prstGeom prst="rect">
            <a:avLst/>
          </a:prstGeom>
        </p:spPr>
      </p:pic>
      <p:pic>
        <p:nvPicPr>
          <p:cNvPr id="3" name="Image 1" descr="/home/srvweblpubt02/Documents/personal/accesspath/ppt/assets/footer-strip-source.png">    </p:cNvPr>
          <p:cNvPicPr>
            <a:picLocks noChangeAspect="1"/>
          </p:cNvPicPr>
          <p:nvPr/>
        </p:nvPicPr>
        <p:blipFill>
          <a:blip r:embed="rId2"/>
          <a:stretch>
            <a:fillRect/>
          </a:stretch>
        </p:blipFill>
        <p:spPr>
          <a:xfrm>
            <a:off x="0" y="5093562"/>
            <a:ext cx="9144000" cy="54275"/>
          </a:xfrm>
          <a:prstGeom prst="rect">
            <a:avLst/>
          </a:prstGeom>
        </p:spPr>
      </p:pic>
      <p:sp>
        <p:nvSpPr>
          <p:cNvPr id="4" name="Text 0"/>
          <p:cNvSpPr/>
          <p:nvPr/>
        </p:nvSpPr>
        <p:spPr>
          <a:xfrm>
            <a:off x="265176" y="521208"/>
            <a:ext cx="8613648" cy="41148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Wireframes/Mock diagrams of the proposed solution (optional)</a:t>
            </a:r>
            <a:endParaRPr lang="en-US" sz="2600" dirty="0"/>
          </a:p>
        </p:txBody>
      </p:sp>
      <p:pic>
        <p:nvPicPr>
          <p:cNvPr id="5" name="Image 2" descr="/home/srvweblpubt02/Documents/personal/accesspath/ppt/assets/diagram-wireframes.png">    </p:cNvPr>
          <p:cNvPicPr>
            <a:picLocks noChangeAspect="1"/>
          </p:cNvPicPr>
          <p:nvPr/>
        </p:nvPicPr>
        <p:blipFill>
          <a:blip r:embed="rId3"/>
          <a:stretch>
            <a:fillRect/>
          </a:stretch>
        </p:blipFill>
        <p:spPr>
          <a:xfrm>
            <a:off x="137160" y="932688"/>
            <a:ext cx="8869680" cy="35204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A"/>
        </a:solidFill>
      </p:bgPr>
    </p:bg>
    <p:spTree>
      <p:nvGrpSpPr>
        <p:cNvPr id="1" name=""/>
        <p:cNvGrpSpPr/>
        <p:nvPr/>
      </p:nvGrpSpPr>
      <p:grpSpPr>
        <a:xfrm>
          <a:off x="0" y="0"/>
          <a:ext cx="0" cy="0"/>
          <a:chOff x="0" y="0"/>
          <a:chExt cx="0" cy="0"/>
        </a:xfrm>
      </p:grpSpPr>
      <p:pic>
        <p:nvPicPr>
          <p:cNvPr id="2" name="Image 0" descr="/home/srvweblpubt02/Documents/personal/accesspath/ppt/assets/header-bar.png">    </p:cNvPr>
          <p:cNvPicPr>
            <a:picLocks noChangeAspect="1"/>
          </p:cNvPicPr>
          <p:nvPr/>
        </p:nvPicPr>
        <p:blipFill>
          <a:blip r:embed="rId1"/>
          <a:stretch>
            <a:fillRect/>
          </a:stretch>
        </p:blipFill>
        <p:spPr>
          <a:xfrm>
            <a:off x="0" y="1"/>
            <a:ext cx="9144000" cy="507359"/>
          </a:xfrm>
          <a:prstGeom prst="rect">
            <a:avLst/>
          </a:prstGeom>
        </p:spPr>
      </p:pic>
      <p:pic>
        <p:nvPicPr>
          <p:cNvPr id="3" name="Image 1" descr="/home/srvweblpubt02/Documents/personal/accesspath/ppt/assets/footer-strip-source.png">    </p:cNvPr>
          <p:cNvPicPr>
            <a:picLocks noChangeAspect="1"/>
          </p:cNvPicPr>
          <p:nvPr/>
        </p:nvPicPr>
        <p:blipFill>
          <a:blip r:embed="rId2"/>
          <a:stretch>
            <a:fillRect/>
          </a:stretch>
        </p:blipFill>
        <p:spPr>
          <a:xfrm>
            <a:off x="0" y="5093562"/>
            <a:ext cx="9144000" cy="54275"/>
          </a:xfrm>
          <a:prstGeom prst="rect">
            <a:avLst/>
          </a:prstGeom>
        </p:spPr>
      </p:pic>
      <p:sp>
        <p:nvSpPr>
          <p:cNvPr id="4" name="Text 0"/>
          <p:cNvSpPr/>
          <p:nvPr/>
        </p:nvSpPr>
        <p:spPr>
          <a:xfrm>
            <a:off x="265176" y="521208"/>
            <a:ext cx="8613648" cy="41148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Architecture diagram of the proposed solution</a:t>
            </a:r>
            <a:endParaRPr lang="en-US" sz="2600" dirty="0"/>
          </a:p>
        </p:txBody>
      </p:sp>
      <p:pic>
        <p:nvPicPr>
          <p:cNvPr id="5" name="Image 2" descr="/home/srvweblpubt02/Documents/personal/accesspath/ppt/assets/diagram-architecture.png">    </p:cNvPr>
          <p:cNvPicPr>
            <a:picLocks noChangeAspect="1"/>
          </p:cNvPicPr>
          <p:nvPr/>
        </p:nvPicPr>
        <p:blipFill>
          <a:blip r:embed="rId3"/>
          <a:stretch>
            <a:fillRect/>
          </a:stretch>
        </p:blipFill>
        <p:spPr>
          <a:xfrm>
            <a:off x="137160" y="886968"/>
            <a:ext cx="8869680" cy="35661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A"/>
        </a:solidFill>
      </p:bgPr>
    </p:bg>
    <p:spTree>
      <p:nvGrpSpPr>
        <p:cNvPr id="1" name=""/>
        <p:cNvGrpSpPr/>
        <p:nvPr/>
      </p:nvGrpSpPr>
      <p:grpSpPr>
        <a:xfrm>
          <a:off x="0" y="0"/>
          <a:ext cx="0" cy="0"/>
          <a:chOff x="0" y="0"/>
          <a:chExt cx="0" cy="0"/>
        </a:xfrm>
      </p:grpSpPr>
      <p:pic>
        <p:nvPicPr>
          <p:cNvPr id="2" name="Image 0" descr="/home/srvweblpubt02/Documents/personal/accesspath/ppt/assets/header-bar.png">    </p:cNvPr>
          <p:cNvPicPr>
            <a:picLocks noChangeAspect="1"/>
          </p:cNvPicPr>
          <p:nvPr/>
        </p:nvPicPr>
        <p:blipFill>
          <a:blip r:embed="rId1"/>
          <a:stretch>
            <a:fillRect/>
          </a:stretch>
        </p:blipFill>
        <p:spPr>
          <a:xfrm>
            <a:off x="0" y="1"/>
            <a:ext cx="9144000" cy="507359"/>
          </a:xfrm>
          <a:prstGeom prst="rect">
            <a:avLst/>
          </a:prstGeom>
        </p:spPr>
      </p:pic>
      <p:pic>
        <p:nvPicPr>
          <p:cNvPr id="3" name="Image 1" descr="/home/srvweblpubt02/Documents/personal/accesspath/ppt/assets/footer-strip-source.png">    </p:cNvPr>
          <p:cNvPicPr>
            <a:picLocks noChangeAspect="1"/>
          </p:cNvPicPr>
          <p:nvPr/>
        </p:nvPicPr>
        <p:blipFill>
          <a:blip r:embed="rId2"/>
          <a:stretch>
            <a:fillRect/>
          </a:stretch>
        </p:blipFill>
        <p:spPr>
          <a:xfrm>
            <a:off x="0" y="5093562"/>
            <a:ext cx="9144000" cy="54275"/>
          </a:xfrm>
          <a:prstGeom prst="rect">
            <a:avLst/>
          </a:prstGeom>
        </p:spPr>
      </p:pic>
      <p:sp>
        <p:nvSpPr>
          <p:cNvPr id="4" name="Text 0"/>
          <p:cNvSpPr/>
          <p:nvPr/>
        </p:nvSpPr>
        <p:spPr>
          <a:xfrm>
            <a:off x="265176" y="521208"/>
            <a:ext cx="8613648" cy="41148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Technologies to be used in the solution</a:t>
            </a:r>
            <a:endParaRPr lang="en-US" sz="2600" dirty="0"/>
          </a:p>
        </p:txBody>
      </p:sp>
      <p:sp>
        <p:nvSpPr>
          <p:cNvPr id="5" name="Shape 1"/>
          <p:cNvSpPr/>
          <p:nvPr/>
        </p:nvSpPr>
        <p:spPr>
          <a:xfrm>
            <a:off x="265176" y="978408"/>
            <a:ext cx="2011680" cy="365760"/>
          </a:xfrm>
          <a:prstGeom prst="roundRect">
            <a:avLst>
              <a:gd name="adj" fmla="val 15000"/>
            </a:avLst>
          </a:prstGeom>
          <a:solidFill>
            <a:srgbClr val="1A1A1A"/>
          </a:solidFill>
          <a:ln w="12700">
            <a:solidFill>
              <a:srgbClr val="333333"/>
            </a:solidFill>
            <a:prstDash val="solid"/>
          </a:ln>
        </p:spPr>
      </p:sp>
      <p:sp>
        <p:nvSpPr>
          <p:cNvPr id="6" name="Text 2"/>
          <p:cNvSpPr/>
          <p:nvPr/>
        </p:nvSpPr>
        <p:spPr>
          <a:xfrm>
            <a:off x="265176" y="978408"/>
            <a:ext cx="201168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Frontend</a:t>
            </a:r>
            <a:endParaRPr lang="en-US" sz="1200" dirty="0"/>
          </a:p>
        </p:txBody>
      </p:sp>
      <p:sp>
        <p:nvSpPr>
          <p:cNvPr id="7" name="Text 3"/>
          <p:cNvSpPr/>
          <p:nvPr/>
        </p:nvSpPr>
        <p:spPr>
          <a:xfrm>
            <a:off x="2468880" y="978408"/>
            <a:ext cx="6309360" cy="365760"/>
          </a:xfrm>
          <a:prstGeom prst="rect">
            <a:avLst/>
          </a:prstGeom>
          <a:noFill/>
          <a:ln/>
        </p:spPr>
        <p:txBody>
          <a:bodyPr wrap="square" rtlCol="0" anchor="ctr"/>
          <a:lstStyle/>
          <a:p>
            <a:pPr indent="0" marL="0">
              <a:buNone/>
            </a:pPr>
            <a:r>
              <a:rPr lang="en-US" sz="1200" dirty="0">
                <a:solidFill>
                  <a:srgbClr val="E8E8E8"/>
                </a:solidFill>
                <a:latin typeface="Arial" pitchFamily="34" charset="0"/>
                <a:ea typeface="Arial" pitchFamily="34" charset="-122"/>
                <a:cs typeface="Arial" pitchFamily="34" charset="-120"/>
              </a:rPr>
              <a:t>Next.js 16 App Router, React 19, TypeScript, Tailwind CSS</a:t>
            </a:r>
            <a:endParaRPr lang="en-US" sz="1200" dirty="0"/>
          </a:p>
        </p:txBody>
      </p:sp>
      <p:sp>
        <p:nvSpPr>
          <p:cNvPr id="8" name="Shape 4"/>
          <p:cNvSpPr/>
          <p:nvPr/>
        </p:nvSpPr>
        <p:spPr>
          <a:xfrm>
            <a:off x="265176" y="1417320"/>
            <a:ext cx="2011680" cy="365760"/>
          </a:xfrm>
          <a:prstGeom prst="roundRect">
            <a:avLst>
              <a:gd name="adj" fmla="val 15000"/>
            </a:avLst>
          </a:prstGeom>
          <a:solidFill>
            <a:srgbClr val="1A1A1A"/>
          </a:solidFill>
          <a:ln w="12700">
            <a:solidFill>
              <a:srgbClr val="333333"/>
            </a:solidFill>
            <a:prstDash val="solid"/>
          </a:ln>
        </p:spPr>
      </p:sp>
      <p:sp>
        <p:nvSpPr>
          <p:cNvPr id="9" name="Text 5"/>
          <p:cNvSpPr/>
          <p:nvPr/>
        </p:nvSpPr>
        <p:spPr>
          <a:xfrm>
            <a:off x="265176" y="1417320"/>
            <a:ext cx="201168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Backend</a:t>
            </a:r>
            <a:endParaRPr lang="en-US" sz="1200" dirty="0"/>
          </a:p>
        </p:txBody>
      </p:sp>
      <p:sp>
        <p:nvSpPr>
          <p:cNvPr id="10" name="Text 6"/>
          <p:cNvSpPr/>
          <p:nvPr/>
        </p:nvSpPr>
        <p:spPr>
          <a:xfrm>
            <a:off x="2468880" y="1417320"/>
            <a:ext cx="6309360" cy="365760"/>
          </a:xfrm>
          <a:prstGeom prst="rect">
            <a:avLst/>
          </a:prstGeom>
          <a:noFill/>
          <a:ln/>
        </p:spPr>
        <p:txBody>
          <a:bodyPr wrap="square" rtlCol="0" anchor="ctr"/>
          <a:lstStyle/>
          <a:p>
            <a:pPr indent="0" marL="0">
              <a:buNone/>
            </a:pPr>
            <a:r>
              <a:rPr lang="en-US" sz="1200" dirty="0">
                <a:solidFill>
                  <a:srgbClr val="E8E8E8"/>
                </a:solidFill>
                <a:latin typeface="Arial" pitchFamily="34" charset="0"/>
                <a:ea typeface="Arial" pitchFamily="34" charset="-122"/>
                <a:cs typeface="Arial" pitchFamily="34" charset="-120"/>
              </a:rPr>
              <a:t>Next.js server actions, modular domain services, Zod validation</a:t>
            </a:r>
            <a:endParaRPr lang="en-US" sz="1200" dirty="0"/>
          </a:p>
        </p:txBody>
      </p:sp>
      <p:sp>
        <p:nvSpPr>
          <p:cNvPr id="11" name="Shape 7"/>
          <p:cNvSpPr/>
          <p:nvPr/>
        </p:nvSpPr>
        <p:spPr>
          <a:xfrm>
            <a:off x="265176" y="1856232"/>
            <a:ext cx="2011680" cy="365760"/>
          </a:xfrm>
          <a:prstGeom prst="roundRect">
            <a:avLst>
              <a:gd name="adj" fmla="val 15000"/>
            </a:avLst>
          </a:prstGeom>
          <a:solidFill>
            <a:srgbClr val="1A1A1A"/>
          </a:solidFill>
          <a:ln w="12700">
            <a:solidFill>
              <a:srgbClr val="333333"/>
            </a:solidFill>
            <a:prstDash val="solid"/>
          </a:ln>
        </p:spPr>
      </p:sp>
      <p:sp>
        <p:nvSpPr>
          <p:cNvPr id="12" name="Text 8"/>
          <p:cNvSpPr/>
          <p:nvPr/>
        </p:nvSpPr>
        <p:spPr>
          <a:xfrm>
            <a:off x="265176" y="1856232"/>
            <a:ext cx="201168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Data</a:t>
            </a:r>
            <a:endParaRPr lang="en-US" sz="1200" dirty="0"/>
          </a:p>
        </p:txBody>
      </p:sp>
      <p:sp>
        <p:nvSpPr>
          <p:cNvPr id="13" name="Text 9"/>
          <p:cNvSpPr/>
          <p:nvPr/>
        </p:nvSpPr>
        <p:spPr>
          <a:xfrm>
            <a:off x="2468880" y="1856232"/>
            <a:ext cx="6309360" cy="365760"/>
          </a:xfrm>
          <a:prstGeom prst="rect">
            <a:avLst/>
          </a:prstGeom>
          <a:noFill/>
          <a:ln/>
        </p:spPr>
        <p:txBody>
          <a:bodyPr wrap="square" rtlCol="0" anchor="ctr"/>
          <a:lstStyle/>
          <a:p>
            <a:pPr indent="0" marL="0">
              <a:buNone/>
            </a:pPr>
            <a:r>
              <a:rPr lang="en-US" sz="1200" dirty="0">
                <a:solidFill>
                  <a:srgbClr val="E8E8E8"/>
                </a:solidFill>
                <a:latin typeface="Arial" pitchFamily="34" charset="0"/>
                <a:ea typeface="Arial" pitchFamily="34" charset="-122"/>
                <a:cs typeface="Arial" pitchFamily="34" charset="-120"/>
              </a:rPr>
              <a:t>PostgreSQL, Drizzle ORM, curated seed + migrations</a:t>
            </a:r>
            <a:endParaRPr lang="en-US" sz="1200" dirty="0"/>
          </a:p>
        </p:txBody>
      </p:sp>
      <p:sp>
        <p:nvSpPr>
          <p:cNvPr id="14" name="Shape 10"/>
          <p:cNvSpPr/>
          <p:nvPr/>
        </p:nvSpPr>
        <p:spPr>
          <a:xfrm>
            <a:off x="265176" y="2295144"/>
            <a:ext cx="2011680" cy="365760"/>
          </a:xfrm>
          <a:prstGeom prst="roundRect">
            <a:avLst>
              <a:gd name="adj" fmla="val 15000"/>
            </a:avLst>
          </a:prstGeom>
          <a:solidFill>
            <a:srgbClr val="1A1A1A"/>
          </a:solidFill>
          <a:ln w="12700">
            <a:solidFill>
              <a:srgbClr val="333333"/>
            </a:solidFill>
            <a:prstDash val="solid"/>
          </a:ln>
        </p:spPr>
      </p:sp>
      <p:sp>
        <p:nvSpPr>
          <p:cNvPr id="15" name="Text 11"/>
          <p:cNvSpPr/>
          <p:nvPr/>
        </p:nvSpPr>
        <p:spPr>
          <a:xfrm>
            <a:off x="265176" y="2295144"/>
            <a:ext cx="201168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AI</a:t>
            </a:r>
            <a:endParaRPr lang="en-US" sz="1200" dirty="0"/>
          </a:p>
        </p:txBody>
      </p:sp>
      <p:sp>
        <p:nvSpPr>
          <p:cNvPr id="16" name="Text 12"/>
          <p:cNvSpPr/>
          <p:nvPr/>
        </p:nvSpPr>
        <p:spPr>
          <a:xfrm>
            <a:off x="2468880" y="2295144"/>
            <a:ext cx="6309360" cy="365760"/>
          </a:xfrm>
          <a:prstGeom prst="rect">
            <a:avLst/>
          </a:prstGeom>
          <a:noFill/>
          <a:ln/>
        </p:spPr>
        <p:txBody>
          <a:bodyPr wrap="square" rtlCol="0" anchor="ctr"/>
          <a:lstStyle/>
          <a:p>
            <a:pPr indent="0" marL="0">
              <a:buNone/>
            </a:pPr>
            <a:r>
              <a:rPr lang="en-US" sz="1200" dirty="0">
                <a:solidFill>
                  <a:srgbClr val="E8E8E8"/>
                </a:solidFill>
                <a:latin typeface="Arial" pitchFamily="34" charset="0"/>
                <a:ea typeface="Arial" pitchFamily="34" charset="-122"/>
                <a:cs typeface="Arial" pitchFamily="34" charset="-120"/>
              </a:rPr>
              <a:t>Gemini via Vertex AI (@google/genai), structured JSON plans</a:t>
            </a:r>
            <a:endParaRPr lang="en-US" sz="1200" dirty="0"/>
          </a:p>
        </p:txBody>
      </p:sp>
      <p:sp>
        <p:nvSpPr>
          <p:cNvPr id="17" name="Shape 13"/>
          <p:cNvSpPr/>
          <p:nvPr/>
        </p:nvSpPr>
        <p:spPr>
          <a:xfrm>
            <a:off x="265176" y="2734056"/>
            <a:ext cx="2011680" cy="365760"/>
          </a:xfrm>
          <a:prstGeom prst="roundRect">
            <a:avLst>
              <a:gd name="adj" fmla="val 15000"/>
            </a:avLst>
          </a:prstGeom>
          <a:solidFill>
            <a:srgbClr val="1A1A1A"/>
          </a:solidFill>
          <a:ln w="12700">
            <a:solidFill>
              <a:srgbClr val="333333"/>
            </a:solidFill>
            <a:prstDash val="solid"/>
          </a:ln>
        </p:spPr>
      </p:sp>
      <p:sp>
        <p:nvSpPr>
          <p:cNvPr id="18" name="Text 14"/>
          <p:cNvSpPr/>
          <p:nvPr/>
        </p:nvSpPr>
        <p:spPr>
          <a:xfrm>
            <a:off x="265176" y="2734056"/>
            <a:ext cx="201168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Auth / trust</a:t>
            </a:r>
            <a:endParaRPr lang="en-US" sz="1200" dirty="0"/>
          </a:p>
        </p:txBody>
      </p:sp>
      <p:sp>
        <p:nvSpPr>
          <p:cNvPr id="19" name="Text 15"/>
          <p:cNvSpPr/>
          <p:nvPr/>
        </p:nvSpPr>
        <p:spPr>
          <a:xfrm>
            <a:off x="2468880" y="2734056"/>
            <a:ext cx="6309360" cy="365760"/>
          </a:xfrm>
          <a:prstGeom prst="rect">
            <a:avLst/>
          </a:prstGeom>
          <a:noFill/>
          <a:ln/>
        </p:spPr>
        <p:txBody>
          <a:bodyPr wrap="square" rtlCol="0" anchor="ctr"/>
          <a:lstStyle/>
          <a:p>
            <a:pPr indent="0" marL="0">
              <a:buNone/>
            </a:pPr>
            <a:r>
              <a:rPr lang="en-US" sz="1200" dirty="0">
                <a:solidFill>
                  <a:srgbClr val="E8E8E8"/>
                </a:solidFill>
                <a:latin typeface="Arial" pitchFamily="34" charset="0"/>
                <a:ea typeface="Arial" pitchFamily="34" charset="-122"/>
                <a:cs typeface="Arial" pitchFamily="34" charset="-120"/>
              </a:rPr>
              <a:t>Session auth, bcrypt, org RBAC, consent events, audit log</a:t>
            </a:r>
            <a:endParaRPr lang="en-US" sz="1200" dirty="0"/>
          </a:p>
        </p:txBody>
      </p:sp>
      <p:sp>
        <p:nvSpPr>
          <p:cNvPr id="20" name="Shape 16"/>
          <p:cNvSpPr/>
          <p:nvPr/>
        </p:nvSpPr>
        <p:spPr>
          <a:xfrm>
            <a:off x="265176" y="3172968"/>
            <a:ext cx="2011680" cy="365760"/>
          </a:xfrm>
          <a:prstGeom prst="roundRect">
            <a:avLst>
              <a:gd name="adj" fmla="val 15000"/>
            </a:avLst>
          </a:prstGeom>
          <a:solidFill>
            <a:srgbClr val="1A1A1A"/>
          </a:solidFill>
          <a:ln w="12700">
            <a:solidFill>
              <a:srgbClr val="333333"/>
            </a:solidFill>
            <a:prstDash val="solid"/>
          </a:ln>
        </p:spPr>
      </p:sp>
      <p:sp>
        <p:nvSpPr>
          <p:cNvPr id="21" name="Text 17"/>
          <p:cNvSpPr/>
          <p:nvPr/>
        </p:nvSpPr>
        <p:spPr>
          <a:xfrm>
            <a:off x="265176" y="3172968"/>
            <a:ext cx="201168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Cloud</a:t>
            </a:r>
            <a:endParaRPr lang="en-US" sz="1200" dirty="0"/>
          </a:p>
        </p:txBody>
      </p:sp>
      <p:sp>
        <p:nvSpPr>
          <p:cNvPr id="22" name="Text 18"/>
          <p:cNvSpPr/>
          <p:nvPr/>
        </p:nvSpPr>
        <p:spPr>
          <a:xfrm>
            <a:off x="2468880" y="3172968"/>
            <a:ext cx="6309360" cy="365760"/>
          </a:xfrm>
          <a:prstGeom prst="rect">
            <a:avLst/>
          </a:prstGeom>
          <a:noFill/>
          <a:ln/>
        </p:spPr>
        <p:txBody>
          <a:bodyPr wrap="square" rtlCol="0" anchor="ctr"/>
          <a:lstStyle/>
          <a:p>
            <a:pPr indent="0" marL="0">
              <a:buNone/>
            </a:pPr>
            <a:r>
              <a:rPr lang="en-US" sz="1200" dirty="0">
                <a:solidFill>
                  <a:srgbClr val="E8E8E8"/>
                </a:solidFill>
                <a:latin typeface="Arial" pitchFamily="34" charset="0"/>
                <a:ea typeface="Arial" pitchFamily="34" charset="-122"/>
                <a:cs typeface="Arial" pitchFamily="34" charset="-120"/>
              </a:rPr>
              <a:t>Cloud Run (Docker), Cloud SQL, Secret Manager, ADC / SA</a:t>
            </a:r>
            <a:endParaRPr lang="en-US" sz="1200" dirty="0"/>
          </a:p>
        </p:txBody>
      </p:sp>
      <p:sp>
        <p:nvSpPr>
          <p:cNvPr id="23" name="Shape 19"/>
          <p:cNvSpPr/>
          <p:nvPr/>
        </p:nvSpPr>
        <p:spPr>
          <a:xfrm>
            <a:off x="265176" y="3611880"/>
            <a:ext cx="2011680" cy="365760"/>
          </a:xfrm>
          <a:prstGeom prst="roundRect">
            <a:avLst>
              <a:gd name="adj" fmla="val 15000"/>
            </a:avLst>
          </a:prstGeom>
          <a:solidFill>
            <a:srgbClr val="1A1A1A"/>
          </a:solidFill>
          <a:ln w="12700">
            <a:solidFill>
              <a:srgbClr val="333333"/>
            </a:solidFill>
            <a:prstDash val="solid"/>
          </a:ln>
        </p:spPr>
      </p:sp>
      <p:sp>
        <p:nvSpPr>
          <p:cNvPr id="24" name="Text 20"/>
          <p:cNvSpPr/>
          <p:nvPr/>
        </p:nvSpPr>
        <p:spPr>
          <a:xfrm>
            <a:off x="265176" y="3611880"/>
            <a:ext cx="2011680" cy="36576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Quality</a:t>
            </a:r>
            <a:endParaRPr lang="en-US" sz="1200" dirty="0"/>
          </a:p>
        </p:txBody>
      </p:sp>
      <p:sp>
        <p:nvSpPr>
          <p:cNvPr id="25" name="Text 21"/>
          <p:cNvSpPr/>
          <p:nvPr/>
        </p:nvSpPr>
        <p:spPr>
          <a:xfrm>
            <a:off x="2468880" y="3611880"/>
            <a:ext cx="6309360" cy="365760"/>
          </a:xfrm>
          <a:prstGeom prst="rect">
            <a:avLst/>
          </a:prstGeom>
          <a:noFill/>
          <a:ln/>
        </p:spPr>
        <p:txBody>
          <a:bodyPr wrap="square" rtlCol="0" anchor="ctr"/>
          <a:lstStyle/>
          <a:p>
            <a:pPr indent="0" marL="0">
              <a:buNone/>
            </a:pPr>
            <a:r>
              <a:rPr lang="en-US" sz="1200" dirty="0">
                <a:solidFill>
                  <a:srgbClr val="E8E8E8"/>
                </a:solidFill>
                <a:latin typeface="Arial" pitchFamily="34" charset="0"/>
                <a:ea typeface="Arial" pitchFamily="34" charset="-122"/>
                <a:cs typeface="Arial" pitchFamily="34" charset="-120"/>
              </a:rPr>
              <a:t>Vitest, AI safety script, journey verify, link verify, health API</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A"/>
        </a:solidFill>
      </p:bgPr>
    </p:bg>
    <p:spTree>
      <p:nvGrpSpPr>
        <p:cNvPr id="1" name=""/>
        <p:cNvGrpSpPr/>
        <p:nvPr/>
      </p:nvGrpSpPr>
      <p:grpSpPr>
        <a:xfrm>
          <a:off x="0" y="0"/>
          <a:ext cx="0" cy="0"/>
          <a:chOff x="0" y="0"/>
          <a:chExt cx="0" cy="0"/>
        </a:xfrm>
      </p:grpSpPr>
      <p:pic>
        <p:nvPicPr>
          <p:cNvPr id="2" name="Image 0" descr="/home/srvweblpubt02/Documents/personal/accesspath/ppt/assets/header-bar.png">    </p:cNvPr>
          <p:cNvPicPr>
            <a:picLocks noChangeAspect="1"/>
          </p:cNvPicPr>
          <p:nvPr/>
        </p:nvPicPr>
        <p:blipFill>
          <a:blip r:embed="rId1"/>
          <a:stretch>
            <a:fillRect/>
          </a:stretch>
        </p:blipFill>
        <p:spPr>
          <a:xfrm>
            <a:off x="0" y="1"/>
            <a:ext cx="9144000" cy="507359"/>
          </a:xfrm>
          <a:prstGeom prst="rect">
            <a:avLst/>
          </a:prstGeom>
        </p:spPr>
      </p:pic>
      <p:pic>
        <p:nvPicPr>
          <p:cNvPr id="3" name="Image 1" descr="/home/srvweblpubt02/Documents/personal/accesspath/ppt/assets/footer-strip-source.png">    </p:cNvPr>
          <p:cNvPicPr>
            <a:picLocks noChangeAspect="1"/>
          </p:cNvPicPr>
          <p:nvPr/>
        </p:nvPicPr>
        <p:blipFill>
          <a:blip r:embed="rId2"/>
          <a:stretch>
            <a:fillRect/>
          </a:stretch>
        </p:blipFill>
        <p:spPr>
          <a:xfrm>
            <a:off x="0" y="5093562"/>
            <a:ext cx="9144000" cy="54275"/>
          </a:xfrm>
          <a:prstGeom prst="rect">
            <a:avLst/>
          </a:prstGeom>
        </p:spPr>
      </p:pic>
      <p:sp>
        <p:nvSpPr>
          <p:cNvPr id="4" name="Text 0"/>
          <p:cNvSpPr/>
          <p:nvPr/>
        </p:nvSpPr>
        <p:spPr>
          <a:xfrm>
            <a:off x="265176" y="521208"/>
            <a:ext cx="8613648" cy="41148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Estimated implementation cost (optional)</a:t>
            </a:r>
            <a:endParaRPr lang="en-US" sz="2600" dirty="0"/>
          </a:p>
        </p:txBody>
      </p:sp>
      <p:sp>
        <p:nvSpPr>
          <p:cNvPr id="5" name="Text 1"/>
          <p:cNvSpPr/>
          <p:nvPr/>
        </p:nvSpPr>
        <p:spPr>
          <a:xfrm>
            <a:off x="265176" y="978408"/>
            <a:ext cx="8412480" cy="365760"/>
          </a:xfrm>
          <a:prstGeom prst="rect">
            <a:avLst/>
          </a:prstGeom>
          <a:noFill/>
          <a:ln/>
        </p:spPr>
        <p:txBody>
          <a:bodyPr wrap="square" rtlCol="0" anchor="ctr"/>
          <a:lstStyle/>
          <a:p>
            <a:pPr indent="0" marL="0">
              <a:buNone/>
            </a:pPr>
            <a:r>
              <a:rPr lang="en-US" sz="1200" dirty="0">
                <a:solidFill>
                  <a:srgbClr val="B8B8B8"/>
                </a:solidFill>
                <a:latin typeface="Arial" pitchFamily="34" charset="0"/>
                <a:ea typeface="Arial" pitchFamily="34" charset="-122"/>
                <a:cs typeface="Arial" pitchFamily="34" charset="-120"/>
              </a:rPr>
              <a:t>Illustrative monthly GCP cost for a small pilot (not a quote). Assumes low traffic demo + Cloud Run min instances off.</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265176" y="1435608"/>
          <a:ext cx="8412480" cy="914400"/>
        </p:xfrm>
        <a:graphic>
          <a:graphicData uri="http://schemas.openxmlformats.org/drawingml/2006/table">
            <a:tbl>
              <a:tblPr/>
              <a:tblGrid>
                <a:gridCol w="2560320"/>
                <a:gridCol w="3840480"/>
                <a:gridCol w="2011680"/>
              </a:tblGrid>
              <a:tr h="0">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Component</a:t>
                      </a:r>
                      <a:endParaRPr lang="en-US" sz="1100" dirty="0">
                        <a:latin typeface="Arial" charset="0"/>
                        <a:ea typeface="Arial" charset="0"/>
                        <a:cs typeface="Arial" charset="0"/>
                      </a:endParaRPr>
                    </a:p>
                  </a:txBody>
                  <a:tcPr marL="91440" marR="91440" marT="45720" marB="4572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Assumption</a:t>
                      </a:r>
                      <a:endParaRPr lang="en-US" sz="1100" dirty="0">
                        <a:latin typeface="Arial" charset="0"/>
                        <a:ea typeface="Arial" charset="0"/>
                        <a:cs typeface="Arial" charset="0"/>
                      </a:endParaRPr>
                    </a:p>
                  </a:txBody>
                  <a:tcPr marL="91440" marR="91440" marT="45720" marB="4572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Est. / month</a:t>
                      </a:r>
                      <a:endParaRPr lang="en-US" sz="1100" dirty="0">
                        <a:latin typeface="Arial" charset="0"/>
                        <a:ea typeface="Arial" charset="0"/>
                        <a:cs typeface="Arial" charset="0"/>
                      </a:endParaRPr>
                    </a:p>
                  </a:txBody>
                  <a:tcPr marL="91440" marR="91440" marT="45720" marB="4572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r>
              <a:tr h="0">
                <a:tc>
                  <a:txBody>
                    <a:bodyPr/>
                    <a:lstStyle/>
                    <a:p>
                      <a:pPr algn="l" indent="0" marL="0">
                        <a:buNone/>
                      </a:pPr>
                      <a:r>
                        <a:rPr lang="en-US" sz="1100" dirty="0">
                          <a:solidFill>
                            <a:srgbClr val="E8E8E8"/>
                          </a:solidFill>
                          <a:latin typeface="Arial" pitchFamily="34" charset="0"/>
                          <a:ea typeface="Arial" pitchFamily="34" charset="-122"/>
                          <a:cs typeface="Arial" pitchFamily="34" charset="-120"/>
                        </a:rPr>
                        <a:t>Cloud Run</a:t>
                      </a:r>
                      <a:endParaRPr lang="en-US" sz="1100" dirty="0">
                        <a:latin typeface="Arial" charset="0"/>
                        <a:ea typeface="Arial" charset="0"/>
                        <a:cs typeface="Arial" charset="0"/>
                      </a:endParaRPr>
                    </a:p>
                  </a:txBody>
                  <a:tcPr marL="91440" marR="91440" marT="45720" marB="4572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algn="l" indent="0" marL="0">
                        <a:buNone/>
                      </a:pPr>
                      <a:r>
                        <a:rPr lang="en-US" sz="1100" dirty="0">
                          <a:solidFill>
                            <a:srgbClr val="E8E8E8"/>
                          </a:solidFill>
                          <a:latin typeface="Arial" pitchFamily="34" charset="0"/>
                          <a:ea typeface="Arial" pitchFamily="34" charset="-122"/>
                          <a:cs typeface="Arial" pitchFamily="34" charset="-120"/>
                        </a:rPr>
                        <a:t>Low RPS web service</a:t>
                      </a:r>
                      <a:endParaRPr lang="en-US" sz="1100" dirty="0">
                        <a:latin typeface="Arial" charset="0"/>
                        <a:ea typeface="Arial" charset="0"/>
                        <a:cs typeface="Arial" charset="0"/>
                      </a:endParaRPr>
                    </a:p>
                  </a:txBody>
                  <a:tcPr marL="91440" marR="91440" marT="45720" marB="4572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algn="l" indent="0" marL="0">
                        <a:buNone/>
                      </a:pPr>
                      <a:r>
                        <a:rPr lang="en-US" sz="1100" dirty="0">
                          <a:solidFill>
                            <a:srgbClr val="E8E8E8"/>
                          </a:solidFill>
                          <a:latin typeface="Arial" pitchFamily="34" charset="0"/>
                          <a:ea typeface="Arial" pitchFamily="34" charset="-122"/>
                          <a:cs typeface="Arial" pitchFamily="34" charset="-120"/>
                        </a:rPr>
                        <a:t>USD 5–25</a:t>
                      </a:r>
                      <a:endParaRPr lang="en-US" sz="1100" dirty="0">
                        <a:latin typeface="Arial" charset="0"/>
                        <a:ea typeface="Arial" charset="0"/>
                        <a:cs typeface="Arial" charset="0"/>
                      </a:endParaRPr>
                    </a:p>
                  </a:txBody>
                  <a:tcPr marL="91440" marR="91440" marT="45720" marB="4572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r>
              <a:tr h="0">
                <a:tc>
                  <a:txBody>
                    <a:bodyPr/>
                    <a:lstStyle/>
                    <a:p>
                      <a:pPr algn="l" indent="0" marL="0">
                        <a:buNone/>
                      </a:pPr>
                      <a:r>
                        <a:rPr lang="en-US" sz="1100" dirty="0">
                          <a:solidFill>
                            <a:srgbClr val="E8E8E8"/>
                          </a:solidFill>
                          <a:latin typeface="Arial" pitchFamily="34" charset="0"/>
                          <a:ea typeface="Arial" pitchFamily="34" charset="-122"/>
                          <a:cs typeface="Arial" pitchFamily="34" charset="-120"/>
                        </a:rPr>
                        <a:t>Cloud SQL (Postgres)</a:t>
                      </a:r>
                      <a:endParaRPr lang="en-US" sz="1100" dirty="0">
                        <a:latin typeface="Arial" charset="0"/>
                        <a:ea typeface="Arial" charset="0"/>
                        <a:cs typeface="Arial" charset="0"/>
                      </a:endParaRPr>
                    </a:p>
                  </a:txBody>
                  <a:tcPr marL="91440" marR="91440" marT="45720" marB="4572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algn="l" indent="0" marL="0">
                        <a:buNone/>
                      </a:pPr>
                      <a:r>
                        <a:rPr lang="en-US" sz="1100" dirty="0">
                          <a:solidFill>
                            <a:srgbClr val="E8E8E8"/>
                          </a:solidFill>
                          <a:latin typeface="Arial" pitchFamily="34" charset="0"/>
                          <a:ea typeface="Arial" pitchFamily="34" charset="-122"/>
                          <a:cs typeface="Arial" pitchFamily="34" charset="-120"/>
                        </a:rPr>
                        <a:t>db-f1-micro / small</a:t>
                      </a:r>
                      <a:endParaRPr lang="en-US" sz="1100" dirty="0">
                        <a:latin typeface="Arial" charset="0"/>
                        <a:ea typeface="Arial" charset="0"/>
                        <a:cs typeface="Arial" charset="0"/>
                      </a:endParaRPr>
                    </a:p>
                  </a:txBody>
                  <a:tcPr marL="91440" marR="91440" marT="45720" marB="4572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algn="l" indent="0" marL="0">
                        <a:buNone/>
                      </a:pPr>
                      <a:r>
                        <a:rPr lang="en-US" sz="1100" dirty="0">
                          <a:solidFill>
                            <a:srgbClr val="E8E8E8"/>
                          </a:solidFill>
                          <a:latin typeface="Arial" pitchFamily="34" charset="0"/>
                          <a:ea typeface="Arial" pitchFamily="34" charset="-122"/>
                          <a:cs typeface="Arial" pitchFamily="34" charset="-120"/>
                        </a:rPr>
                        <a:t>USD 10–40</a:t>
                      </a:r>
                      <a:endParaRPr lang="en-US" sz="1100" dirty="0">
                        <a:latin typeface="Arial" charset="0"/>
                        <a:ea typeface="Arial" charset="0"/>
                        <a:cs typeface="Arial" charset="0"/>
                      </a:endParaRPr>
                    </a:p>
                  </a:txBody>
                  <a:tcPr marL="91440" marR="91440" marT="45720" marB="4572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r>
              <a:tr h="0">
                <a:tc>
                  <a:txBody>
                    <a:bodyPr/>
                    <a:lstStyle/>
                    <a:p>
                      <a:pPr algn="l" indent="0" marL="0">
                        <a:buNone/>
                      </a:pPr>
                      <a:r>
                        <a:rPr lang="en-US" sz="1100" dirty="0">
                          <a:solidFill>
                            <a:srgbClr val="E8E8E8"/>
                          </a:solidFill>
                          <a:latin typeface="Arial" pitchFamily="34" charset="0"/>
                          <a:ea typeface="Arial" pitchFamily="34" charset="-122"/>
                          <a:cs typeface="Arial" pitchFamily="34" charset="-120"/>
                        </a:rPr>
                        <a:t>Vertex AI Gemini</a:t>
                      </a:r>
                      <a:endParaRPr lang="en-US" sz="1100" dirty="0">
                        <a:latin typeface="Arial" charset="0"/>
                        <a:ea typeface="Arial" charset="0"/>
                        <a:cs typeface="Arial" charset="0"/>
                      </a:endParaRPr>
                    </a:p>
                  </a:txBody>
                  <a:tcPr marL="91440" marR="91440" marT="45720" marB="4572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algn="l" indent="0" marL="0">
                        <a:buNone/>
                      </a:pPr>
                      <a:r>
                        <a:rPr lang="en-US" sz="1100" dirty="0">
                          <a:solidFill>
                            <a:srgbClr val="E8E8E8"/>
                          </a:solidFill>
                          <a:latin typeface="Arial" pitchFamily="34" charset="0"/>
                          <a:ea typeface="Arial" pitchFamily="34" charset="-122"/>
                          <a:cs typeface="Arial" pitchFamily="34" charset="-120"/>
                        </a:rPr>
                        <a:t>Flash-class, capped prompts</a:t>
                      </a:r>
                      <a:endParaRPr lang="en-US" sz="1100" dirty="0">
                        <a:latin typeface="Arial" charset="0"/>
                        <a:ea typeface="Arial" charset="0"/>
                        <a:cs typeface="Arial" charset="0"/>
                      </a:endParaRPr>
                    </a:p>
                  </a:txBody>
                  <a:tcPr marL="91440" marR="91440" marT="45720" marB="4572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algn="l" indent="0" marL="0">
                        <a:buNone/>
                      </a:pPr>
                      <a:r>
                        <a:rPr lang="en-US" sz="1100" dirty="0">
                          <a:solidFill>
                            <a:srgbClr val="E8E8E8"/>
                          </a:solidFill>
                          <a:latin typeface="Arial" pitchFamily="34" charset="0"/>
                          <a:ea typeface="Arial" pitchFamily="34" charset="-122"/>
                          <a:cs typeface="Arial" pitchFamily="34" charset="-120"/>
                        </a:rPr>
                        <a:t>USD 5–30</a:t>
                      </a:r>
                      <a:endParaRPr lang="en-US" sz="1100" dirty="0">
                        <a:latin typeface="Arial" charset="0"/>
                        <a:ea typeface="Arial" charset="0"/>
                        <a:cs typeface="Arial" charset="0"/>
                      </a:endParaRPr>
                    </a:p>
                  </a:txBody>
                  <a:tcPr marL="91440" marR="91440" marT="45720" marB="4572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r>
              <a:tr h="0">
                <a:tc>
                  <a:txBody>
                    <a:bodyPr/>
                    <a:lstStyle/>
                    <a:p>
                      <a:pPr algn="l" indent="0" marL="0">
                        <a:buNone/>
                      </a:pPr>
                      <a:r>
                        <a:rPr lang="en-US" sz="1100" dirty="0">
                          <a:solidFill>
                            <a:srgbClr val="E8E8E8"/>
                          </a:solidFill>
                          <a:latin typeface="Arial" pitchFamily="34" charset="0"/>
                          <a:ea typeface="Arial" pitchFamily="34" charset="-122"/>
                          <a:cs typeface="Arial" pitchFamily="34" charset="-120"/>
                        </a:rPr>
                        <a:t>Secret Manager / Artifact Registry</a:t>
                      </a:r>
                      <a:endParaRPr lang="en-US" sz="1100" dirty="0">
                        <a:latin typeface="Arial" charset="0"/>
                        <a:ea typeface="Arial" charset="0"/>
                        <a:cs typeface="Arial" charset="0"/>
                      </a:endParaRPr>
                    </a:p>
                  </a:txBody>
                  <a:tcPr marL="91440" marR="91440" marT="45720" marB="4572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algn="l" indent="0" marL="0">
                        <a:buNone/>
                      </a:pPr>
                      <a:r>
                        <a:rPr lang="en-US" sz="1100" dirty="0">
                          <a:solidFill>
                            <a:srgbClr val="E8E8E8"/>
                          </a:solidFill>
                          <a:latin typeface="Arial" pitchFamily="34" charset="0"/>
                          <a:ea typeface="Arial" pitchFamily="34" charset="-122"/>
                          <a:cs typeface="Arial" pitchFamily="34" charset="-120"/>
                        </a:rPr>
                        <a:t>Minimal</a:t>
                      </a:r>
                      <a:endParaRPr lang="en-US" sz="1100" dirty="0">
                        <a:latin typeface="Arial" charset="0"/>
                        <a:ea typeface="Arial" charset="0"/>
                        <a:cs typeface="Arial" charset="0"/>
                      </a:endParaRPr>
                    </a:p>
                  </a:txBody>
                  <a:tcPr marL="91440" marR="91440" marT="45720" marB="4572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algn="l" indent="0" marL="0">
                        <a:buNone/>
                      </a:pPr>
                      <a:r>
                        <a:rPr lang="en-US" sz="1100" dirty="0">
                          <a:solidFill>
                            <a:srgbClr val="E8E8E8"/>
                          </a:solidFill>
                          <a:latin typeface="Arial" pitchFamily="34" charset="0"/>
                          <a:ea typeface="Arial" pitchFamily="34" charset="-122"/>
                          <a:cs typeface="Arial" pitchFamily="34" charset="-120"/>
                        </a:rPr>
                        <a:t>USD 1–5</a:t>
                      </a:r>
                      <a:endParaRPr lang="en-US" sz="1100" dirty="0">
                        <a:latin typeface="Arial" charset="0"/>
                        <a:ea typeface="Arial" charset="0"/>
                        <a:cs typeface="Arial" charset="0"/>
                      </a:endParaRPr>
                    </a:p>
                  </a:txBody>
                  <a:tcPr marL="91440" marR="91440" marT="45720" marB="4572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r>
              <a:tr h="0">
                <a:tc>
                  <a:txBody>
                    <a:bodyPr/>
                    <a:lstStyle/>
                    <a:p>
                      <a:pPr algn="l" indent="0" marL="0">
                        <a:buNone/>
                      </a:pPr>
                      <a:r>
                        <a:rPr lang="en-US" sz="1100" dirty="0">
                          <a:solidFill>
                            <a:srgbClr val="E8E8E8"/>
                          </a:solidFill>
                          <a:latin typeface="Arial" pitchFamily="34" charset="0"/>
                          <a:ea typeface="Arial" pitchFamily="34" charset="-122"/>
                          <a:cs typeface="Arial" pitchFamily="34" charset="-120"/>
                        </a:rPr>
                        <a:t>Egress / misc</a:t>
                      </a:r>
                      <a:endParaRPr lang="en-US" sz="1100" dirty="0">
                        <a:latin typeface="Arial" charset="0"/>
                        <a:ea typeface="Arial" charset="0"/>
                        <a:cs typeface="Arial" charset="0"/>
                      </a:endParaRPr>
                    </a:p>
                  </a:txBody>
                  <a:tcPr marL="91440" marR="91440" marT="45720" marB="4572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algn="l" indent="0" marL="0">
                        <a:buNone/>
                      </a:pPr>
                      <a:r>
                        <a:rPr lang="en-US" sz="1100" dirty="0">
                          <a:solidFill>
                            <a:srgbClr val="E8E8E8"/>
                          </a:solidFill>
                          <a:latin typeface="Arial" pitchFamily="34" charset="0"/>
                          <a:ea typeface="Arial" pitchFamily="34" charset="-122"/>
                          <a:cs typeface="Arial" pitchFamily="34" charset="-120"/>
                        </a:rPr>
                        <a:t>Demo traffic</a:t>
                      </a:r>
                      <a:endParaRPr lang="en-US" sz="1100" dirty="0">
                        <a:latin typeface="Arial" charset="0"/>
                        <a:ea typeface="Arial" charset="0"/>
                        <a:cs typeface="Arial" charset="0"/>
                      </a:endParaRPr>
                    </a:p>
                  </a:txBody>
                  <a:tcPr marL="91440" marR="91440" marT="45720" marB="4572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algn="l" indent="0" marL="0">
                        <a:buNone/>
                      </a:pPr>
                      <a:r>
                        <a:rPr lang="en-US" sz="1100" dirty="0">
                          <a:solidFill>
                            <a:srgbClr val="E8E8E8"/>
                          </a:solidFill>
                          <a:latin typeface="Arial" pitchFamily="34" charset="0"/>
                          <a:ea typeface="Arial" pitchFamily="34" charset="-122"/>
                          <a:cs typeface="Arial" pitchFamily="34" charset="-120"/>
                        </a:rPr>
                        <a:t>USD 2–10</a:t>
                      </a:r>
                      <a:endParaRPr lang="en-US" sz="1100" dirty="0">
                        <a:latin typeface="Arial" charset="0"/>
                        <a:ea typeface="Arial" charset="0"/>
                        <a:cs typeface="Arial" charset="0"/>
                      </a:endParaRPr>
                    </a:p>
                  </a:txBody>
                  <a:tcPr marL="91440" marR="91440" marT="45720" marB="4572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r>
              <a:tr h="0">
                <a:tc>
                  <a:txBody>
                    <a:bodyPr/>
                    <a:lstStyle/>
                    <a:p>
                      <a:pPr algn="l" indent="0" marL="0">
                        <a:buNone/>
                      </a:pPr>
                      <a:r>
                        <a:rPr lang="en-US" sz="1100" b="1" dirty="0">
                          <a:solidFill>
                            <a:srgbClr val="E8E8E8"/>
                          </a:solidFill>
                          <a:latin typeface="Arial" pitchFamily="34" charset="0"/>
                          <a:ea typeface="Arial" pitchFamily="34" charset="-122"/>
                          <a:cs typeface="Arial" pitchFamily="34" charset="-120"/>
                        </a:rPr>
                        <a:t>Pilot total (approx.)</a:t>
                      </a:r>
                      <a:endParaRPr lang="en-US" sz="1100" dirty="0">
                        <a:latin typeface="Arial" charset="0"/>
                        <a:ea typeface="Arial" charset="0"/>
                        <a:cs typeface="Arial" charset="0"/>
                      </a:endParaRPr>
                    </a:p>
                  </a:txBody>
                  <a:tcPr marL="91440" marR="91440" marT="45720" marB="4572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algn="l" indent="0" marL="0">
                        <a:buNone/>
                      </a:pPr>
                      <a:r>
                        <a:rPr lang="en-US" sz="1100" b="1" dirty="0">
                          <a:solidFill>
                            <a:srgbClr val="E8E8E8"/>
                          </a:solidFill>
                          <a:latin typeface="Arial" pitchFamily="34" charset="0"/>
                          <a:ea typeface="Arial" pitchFamily="34" charset="-122"/>
                          <a:cs typeface="Arial" pitchFamily="34" charset="-120"/>
                        </a:rPr>
                        <a:t>Hackathon → early pilot</a:t>
                      </a:r>
                      <a:endParaRPr lang="en-US" sz="1100" dirty="0">
                        <a:latin typeface="Arial" charset="0"/>
                        <a:ea typeface="Arial" charset="0"/>
                        <a:cs typeface="Arial" charset="0"/>
                      </a:endParaRPr>
                    </a:p>
                  </a:txBody>
                  <a:tcPr marL="91440" marR="91440" marT="45720" marB="4572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c>
                  <a:txBody>
                    <a:bodyPr/>
                    <a:lstStyle/>
                    <a:p>
                      <a:pPr algn="l" indent="0" marL="0">
                        <a:buNone/>
                      </a:pPr>
                      <a:r>
                        <a:rPr lang="en-US" sz="1100" b="1" dirty="0">
                          <a:solidFill>
                            <a:srgbClr val="FBBC04"/>
                          </a:solidFill>
                          <a:latin typeface="Arial" pitchFamily="34" charset="0"/>
                          <a:ea typeface="Arial" pitchFamily="34" charset="-122"/>
                          <a:cs typeface="Arial" pitchFamily="34" charset="-120"/>
                        </a:rPr>
                        <a:t>USD ~25–110</a:t>
                      </a:r>
                      <a:endParaRPr lang="en-US" sz="1100" dirty="0">
                        <a:latin typeface="Arial" charset="0"/>
                        <a:ea typeface="Arial" charset="0"/>
                        <a:cs typeface="Arial" charset="0"/>
                      </a:endParaRPr>
                    </a:p>
                  </a:txBody>
                  <a:tcPr marL="91440" marR="91440" marT="45720" marB="4572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1A1A"/>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A"/>
        </a:solidFill>
      </p:bgPr>
    </p:bg>
    <p:spTree>
      <p:nvGrpSpPr>
        <p:cNvPr id="1" name=""/>
        <p:cNvGrpSpPr/>
        <p:nvPr/>
      </p:nvGrpSpPr>
      <p:grpSpPr>
        <a:xfrm>
          <a:off x="0" y="0"/>
          <a:ext cx="0" cy="0"/>
          <a:chOff x="0" y="0"/>
          <a:chExt cx="0" cy="0"/>
        </a:xfrm>
      </p:grpSpPr>
      <p:pic>
        <p:nvPicPr>
          <p:cNvPr id="2" name="Image 0" descr="/home/srvweblpubt02/Documents/personal/accesspath/ppt/assets/header-bar.png">    </p:cNvPr>
          <p:cNvPicPr>
            <a:picLocks noChangeAspect="1"/>
          </p:cNvPicPr>
          <p:nvPr/>
        </p:nvPicPr>
        <p:blipFill>
          <a:blip r:embed="rId1"/>
          <a:stretch>
            <a:fillRect/>
          </a:stretch>
        </p:blipFill>
        <p:spPr>
          <a:xfrm>
            <a:off x="0" y="1"/>
            <a:ext cx="9144000" cy="507359"/>
          </a:xfrm>
          <a:prstGeom prst="rect">
            <a:avLst/>
          </a:prstGeom>
        </p:spPr>
      </p:pic>
      <p:pic>
        <p:nvPicPr>
          <p:cNvPr id="3" name="Image 1" descr="/home/srvweblpubt02/Documents/personal/accesspath/ppt/assets/footer-strip-source.png">    </p:cNvPr>
          <p:cNvPicPr>
            <a:picLocks noChangeAspect="1"/>
          </p:cNvPicPr>
          <p:nvPr/>
        </p:nvPicPr>
        <p:blipFill>
          <a:blip r:embed="rId2"/>
          <a:stretch>
            <a:fillRect/>
          </a:stretch>
        </p:blipFill>
        <p:spPr>
          <a:xfrm>
            <a:off x="0" y="5093562"/>
            <a:ext cx="9144000" cy="54275"/>
          </a:xfrm>
          <a:prstGeom prst="rect">
            <a:avLst/>
          </a:prstGeom>
        </p:spPr>
      </p:pic>
      <p:sp>
        <p:nvSpPr>
          <p:cNvPr id="4" name="Text 0"/>
          <p:cNvSpPr/>
          <p:nvPr/>
        </p:nvSpPr>
        <p:spPr>
          <a:xfrm>
            <a:off x="265176" y="521208"/>
            <a:ext cx="8613648" cy="41148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Snapshots of the prototype</a:t>
            </a:r>
            <a:endParaRPr lang="en-US" sz="2600" dirty="0"/>
          </a:p>
        </p:txBody>
      </p:sp>
      <p:pic>
        <p:nvPicPr>
          <p:cNvPr id="5" name="Image 2" descr="/home/srvweblpubt02/Documents/personal/accesspath/ppt/assets/snap-hero.jpg">    </p:cNvPr>
          <p:cNvPicPr>
            <a:picLocks noChangeAspect="1"/>
          </p:cNvPicPr>
          <p:nvPr/>
        </p:nvPicPr>
        <p:blipFill>
          <a:blip r:embed="rId3"/>
          <a:stretch>
            <a:fillRect/>
          </a:stretch>
        </p:blipFill>
        <p:spPr>
          <a:xfrm>
            <a:off x="265176" y="978408"/>
            <a:ext cx="4114800" cy="1325880"/>
          </a:xfrm>
          <a:prstGeom prst="rect">
            <a:avLst/>
          </a:prstGeom>
        </p:spPr>
      </p:pic>
      <p:sp>
        <p:nvSpPr>
          <p:cNvPr id="6" name="Text 1"/>
          <p:cNvSpPr/>
          <p:nvPr/>
        </p:nvSpPr>
        <p:spPr>
          <a:xfrm>
            <a:off x="265176" y="2331720"/>
            <a:ext cx="4114800" cy="256032"/>
          </a:xfrm>
          <a:prstGeom prst="rect">
            <a:avLst/>
          </a:prstGeom>
          <a:noFill/>
          <a:ln/>
        </p:spPr>
        <p:txBody>
          <a:bodyPr wrap="square" rtlCol="0" anchor="ctr"/>
          <a:lstStyle/>
          <a:p>
            <a:pPr indent="0" marL="0">
              <a:buNone/>
            </a:pPr>
            <a:r>
              <a:rPr lang="en-US" sz="1100" dirty="0">
                <a:solidFill>
                  <a:srgbClr val="B8B8B8"/>
                </a:solidFill>
                <a:latin typeface="Arial" pitchFamily="34" charset="0"/>
                <a:ea typeface="Arial" pitchFamily="34" charset="-122"/>
                <a:cs typeface="Arial" pitchFamily="34" charset="-120"/>
              </a:rPr>
              <a:t>Landing — trust + multi-category entry</a:t>
            </a:r>
            <a:endParaRPr lang="en-US" sz="1100" dirty="0"/>
          </a:p>
        </p:txBody>
      </p:sp>
      <p:pic>
        <p:nvPicPr>
          <p:cNvPr id="7" name="Image 3" descr="/home/srvweblpubt02/Documents/personal/accesspath/ppt/assets/snap-individuals.jpg">    </p:cNvPr>
          <p:cNvPicPr>
            <a:picLocks noChangeAspect="1"/>
          </p:cNvPicPr>
          <p:nvPr/>
        </p:nvPicPr>
        <p:blipFill>
          <a:blip r:embed="rId4"/>
          <a:stretch>
            <a:fillRect/>
          </a:stretch>
        </p:blipFill>
        <p:spPr>
          <a:xfrm>
            <a:off x="4608576" y="978408"/>
            <a:ext cx="4114800" cy="1325880"/>
          </a:xfrm>
          <a:prstGeom prst="rect">
            <a:avLst/>
          </a:prstGeom>
        </p:spPr>
      </p:pic>
      <p:sp>
        <p:nvSpPr>
          <p:cNvPr id="8" name="Text 2"/>
          <p:cNvSpPr/>
          <p:nvPr/>
        </p:nvSpPr>
        <p:spPr>
          <a:xfrm>
            <a:off x="4608576" y="2331720"/>
            <a:ext cx="4114800" cy="256032"/>
          </a:xfrm>
          <a:prstGeom prst="rect">
            <a:avLst/>
          </a:prstGeom>
          <a:noFill/>
          <a:ln/>
        </p:spPr>
        <p:txBody>
          <a:bodyPr wrap="square" rtlCol="0" anchor="ctr"/>
          <a:lstStyle/>
          <a:p>
            <a:pPr indent="0" marL="0">
              <a:buNone/>
            </a:pPr>
            <a:r>
              <a:rPr lang="en-US" sz="1100" dirty="0">
                <a:solidFill>
                  <a:srgbClr val="B8B8B8"/>
                </a:solidFill>
                <a:latin typeface="Arial" pitchFamily="34" charset="0"/>
                <a:ea typeface="Arial" pitchFamily="34" charset="-122"/>
                <a:cs typeface="Arial" pitchFamily="34" charset="-120"/>
              </a:rPr>
              <a:t>People &amp; caregivers journey</a:t>
            </a:r>
            <a:endParaRPr lang="en-US" sz="1100" dirty="0"/>
          </a:p>
        </p:txBody>
      </p:sp>
      <p:pic>
        <p:nvPicPr>
          <p:cNvPr id="9" name="Image 4" descr="/home/srvweblpubt02/Documents/personal/accesspath/ppt/assets/snap-organisations.jpg">    </p:cNvPr>
          <p:cNvPicPr>
            <a:picLocks noChangeAspect="1"/>
          </p:cNvPicPr>
          <p:nvPr/>
        </p:nvPicPr>
        <p:blipFill>
          <a:blip r:embed="rId5"/>
          <a:stretch>
            <a:fillRect/>
          </a:stretch>
        </p:blipFill>
        <p:spPr>
          <a:xfrm>
            <a:off x="265176" y="2715768"/>
            <a:ext cx="4114800" cy="1325880"/>
          </a:xfrm>
          <a:prstGeom prst="rect">
            <a:avLst/>
          </a:prstGeom>
        </p:spPr>
      </p:pic>
      <p:sp>
        <p:nvSpPr>
          <p:cNvPr id="10" name="Text 3"/>
          <p:cNvSpPr/>
          <p:nvPr/>
        </p:nvSpPr>
        <p:spPr>
          <a:xfrm>
            <a:off x="265176" y="4069080"/>
            <a:ext cx="4114800" cy="256032"/>
          </a:xfrm>
          <a:prstGeom prst="rect">
            <a:avLst/>
          </a:prstGeom>
          <a:noFill/>
          <a:ln/>
        </p:spPr>
        <p:txBody>
          <a:bodyPr wrap="square" rtlCol="0" anchor="ctr"/>
          <a:lstStyle/>
          <a:p>
            <a:pPr indent="0" marL="0">
              <a:buNone/>
            </a:pPr>
            <a:r>
              <a:rPr lang="en-US" sz="1100" dirty="0">
                <a:solidFill>
                  <a:srgbClr val="B8B8B8"/>
                </a:solidFill>
                <a:latin typeface="Arial" pitchFamily="34" charset="0"/>
                <a:ea typeface="Arial" pitchFamily="34" charset="-122"/>
                <a:cs typeface="Arial" pitchFamily="34" charset="-120"/>
              </a:rPr>
              <a:t>Organisation coordination surface</a:t>
            </a:r>
            <a:endParaRPr lang="en-US" sz="1100" dirty="0"/>
          </a:p>
        </p:txBody>
      </p:sp>
      <p:pic>
        <p:nvPicPr>
          <p:cNvPr id="11" name="Image 5" descr="/home/srvweblpubt02/Documents/personal/accesspath/ppt/assets/snap-auth.jpg">    </p:cNvPr>
          <p:cNvPicPr>
            <a:picLocks noChangeAspect="1"/>
          </p:cNvPicPr>
          <p:nvPr/>
        </p:nvPicPr>
        <p:blipFill>
          <a:blip r:embed="rId6"/>
          <a:stretch>
            <a:fillRect/>
          </a:stretch>
        </p:blipFill>
        <p:spPr>
          <a:xfrm>
            <a:off x="4608576" y="2715768"/>
            <a:ext cx="4114800" cy="1325880"/>
          </a:xfrm>
          <a:prstGeom prst="rect">
            <a:avLst/>
          </a:prstGeom>
        </p:spPr>
      </p:pic>
      <p:sp>
        <p:nvSpPr>
          <p:cNvPr id="12" name="Text 4"/>
          <p:cNvSpPr/>
          <p:nvPr/>
        </p:nvSpPr>
        <p:spPr>
          <a:xfrm>
            <a:off x="4608576" y="4069080"/>
            <a:ext cx="4114800" cy="256032"/>
          </a:xfrm>
          <a:prstGeom prst="rect">
            <a:avLst/>
          </a:prstGeom>
          <a:noFill/>
          <a:ln/>
        </p:spPr>
        <p:txBody>
          <a:bodyPr wrap="square" rtlCol="0" anchor="ctr"/>
          <a:lstStyle/>
          <a:p>
            <a:pPr indent="0" marL="0">
              <a:buNone/>
            </a:pPr>
            <a:r>
              <a:rPr lang="en-US" sz="1100" dirty="0">
                <a:solidFill>
                  <a:srgbClr val="B8B8B8"/>
                </a:solidFill>
                <a:latin typeface="Arial" pitchFamily="34" charset="0"/>
                <a:ea typeface="Arial" pitchFamily="34" charset="-122"/>
                <a:cs typeface="Arial" pitchFamily="34" charset="-120"/>
              </a:rPr>
              <a:t>Authenticated workspaces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A0A"/>
        </a:solidFill>
      </p:bgPr>
    </p:bg>
    <p:spTree>
      <p:nvGrpSpPr>
        <p:cNvPr id="1" name=""/>
        <p:cNvGrpSpPr/>
        <p:nvPr/>
      </p:nvGrpSpPr>
      <p:grpSpPr>
        <a:xfrm>
          <a:off x="0" y="0"/>
          <a:ext cx="0" cy="0"/>
          <a:chOff x="0" y="0"/>
          <a:chExt cx="0" cy="0"/>
        </a:xfrm>
      </p:grpSpPr>
      <p:pic>
        <p:nvPicPr>
          <p:cNvPr id="2" name="Image 0" descr="/home/srvweblpubt02/Documents/personal/accesspath/ppt/assets/header-bar.png">    </p:cNvPr>
          <p:cNvPicPr>
            <a:picLocks noChangeAspect="1"/>
          </p:cNvPicPr>
          <p:nvPr/>
        </p:nvPicPr>
        <p:blipFill>
          <a:blip r:embed="rId1"/>
          <a:stretch>
            <a:fillRect/>
          </a:stretch>
        </p:blipFill>
        <p:spPr>
          <a:xfrm>
            <a:off x="0" y="1"/>
            <a:ext cx="9144000" cy="507359"/>
          </a:xfrm>
          <a:prstGeom prst="rect">
            <a:avLst/>
          </a:prstGeom>
        </p:spPr>
      </p:pic>
      <p:pic>
        <p:nvPicPr>
          <p:cNvPr id="3" name="Image 1" descr="/home/srvweblpubt02/Documents/personal/accesspath/ppt/assets/footer-strip-source.png">    </p:cNvPr>
          <p:cNvPicPr>
            <a:picLocks noChangeAspect="1"/>
          </p:cNvPicPr>
          <p:nvPr/>
        </p:nvPicPr>
        <p:blipFill>
          <a:blip r:embed="rId2"/>
          <a:stretch>
            <a:fillRect/>
          </a:stretch>
        </p:blipFill>
        <p:spPr>
          <a:xfrm>
            <a:off x="0" y="5093562"/>
            <a:ext cx="9144000" cy="54275"/>
          </a:xfrm>
          <a:prstGeom prst="rect">
            <a:avLst/>
          </a:prstGeom>
        </p:spPr>
      </p:pic>
      <p:sp>
        <p:nvSpPr>
          <p:cNvPr id="4" name="Text 0"/>
          <p:cNvSpPr/>
          <p:nvPr/>
        </p:nvSpPr>
        <p:spPr>
          <a:xfrm>
            <a:off x="265176" y="521208"/>
            <a:ext cx="8613648" cy="41148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Prototype Performance report/Benchmarking</a:t>
            </a:r>
            <a:endParaRPr lang="en-US" sz="2600" dirty="0"/>
          </a:p>
        </p:txBody>
      </p:sp>
      <p:sp>
        <p:nvSpPr>
          <p:cNvPr id="5" name="Text 1"/>
          <p:cNvSpPr/>
          <p:nvPr/>
        </p:nvSpPr>
        <p:spPr>
          <a:xfrm>
            <a:off x="265176" y="1024128"/>
            <a:ext cx="8613648" cy="3383280"/>
          </a:xfrm>
          <a:prstGeom prst="rect">
            <a:avLst/>
          </a:prstGeom>
          <a:noFill/>
          <a:ln/>
        </p:spPr>
        <p:txBody>
          <a:bodyPr wrap="square" rtlCol="0" anchor="t"/>
          <a:lstStyle/>
          <a:p>
            <a:pPr marL="342900" indent="-342900">
              <a:buSzPct val="100000"/>
              <a:buChar char="•"/>
            </a:pPr>
            <a:r>
              <a:rPr lang="en-US" sz="1300" dirty="0">
                <a:solidFill>
                  <a:srgbClr val="E8E8E8"/>
                </a:solidFill>
                <a:latin typeface="Arial" pitchFamily="34" charset="0"/>
                <a:ea typeface="Arial" pitchFamily="34" charset="-122"/>
                <a:cs typeface="Arial" pitchFamily="34" charset="-120"/>
              </a:rPr>
              <a:t>Verification harness: npm run verify:all (typecheck, lint, unit tests, AI safety, journey, source links, deploy-env check, build).</a:t>
            </a:r>
            <a:endParaRPr lang="en-US" sz="1300" dirty="0"/>
          </a:p>
          <a:p>
            <a:pPr marL="342900" indent="-342900">
              <a:buSzPct val="100000"/>
              <a:buChar char="•"/>
            </a:pPr>
            <a:r>
              <a:rPr lang="en-US" sz="1300" dirty="0">
                <a:solidFill>
                  <a:srgbClr val="E8E8E8"/>
                </a:solidFill>
                <a:latin typeface="Arial" pitchFamily="34" charset="0"/>
                <a:ea typeface="Arial" pitchFamily="34" charset="-122"/>
                <a:cs typeface="Arial" pitchFamily="34" charset="-120"/>
              </a:rPr>
              <a:t>AI safety script confirms empty-region → no invented resources; expired listings excluded; schema-validated plan JSON.</a:t>
            </a:r>
            <a:endParaRPr lang="en-US" sz="1300" dirty="0"/>
          </a:p>
          <a:p>
            <a:pPr marL="342900" indent="-342900">
              <a:buSzPct val="100000"/>
              <a:buChar char="•"/>
            </a:pPr>
            <a:r>
              <a:rPr lang="en-US" sz="1300" dirty="0">
                <a:solidFill>
                  <a:srgbClr val="E8E8E8"/>
                </a:solidFill>
                <a:latin typeface="Arial" pitchFamily="34" charset="0"/>
                <a:ea typeface="Arial" pitchFamily="34" charset="-122"/>
                <a:cs typeface="Arial" pitchFamily="34" charset="-120"/>
              </a:rPr>
              <a:t>Demo journey script walks intake → plan → consent → org decline → alternative → outcome (fictional data).</a:t>
            </a:r>
            <a:endParaRPr lang="en-US" sz="1300" dirty="0"/>
          </a:p>
          <a:p>
            <a:pPr marL="342900" indent="-342900">
              <a:buSzPct val="100000"/>
              <a:buChar char="•"/>
            </a:pPr>
            <a:r>
              <a:rPr lang="en-US" sz="1300" dirty="0">
                <a:solidFill>
                  <a:srgbClr val="E8E8E8"/>
                </a:solidFill>
                <a:latin typeface="Arial" pitchFamily="34" charset="0"/>
                <a:ea typeface="Arial" pitchFamily="34" charset="-122"/>
                <a:cs typeface="Arial" pitchFamily="34" charset="-120"/>
              </a:rPr>
              <a:t>Health: GET /api/health returns service status, env warnings, DB ping, resource count.</a:t>
            </a:r>
            <a:endParaRPr lang="en-US" sz="1300" dirty="0"/>
          </a:p>
          <a:p>
            <a:pPr marL="342900" indent="-342900">
              <a:buSzPct val="100000"/>
              <a:buChar char="•"/>
            </a:pPr>
            <a:r>
              <a:rPr lang="en-US" sz="1300" dirty="0">
                <a:solidFill>
                  <a:srgbClr val="E8E8E8"/>
                </a:solidFill>
                <a:latin typeface="Arial" pitchFamily="34" charset="0"/>
                <a:ea typeface="Arial" pitchFamily="34" charset="-122"/>
                <a:cs typeface="Arial" pitchFamily="34" charset="-120"/>
              </a:rPr>
              <a:t>Resilience: if Vertex AI / project / ADC missing, server returns deterministic grounded fallback (source: deterministic_fallback).</a:t>
            </a:r>
            <a:endParaRPr lang="en-US" sz="1300" dirty="0"/>
          </a:p>
          <a:p>
            <a:pPr marL="342900" indent="-342900">
              <a:buSzPct val="100000"/>
              <a:buChar char="•"/>
            </a:pPr>
            <a:r>
              <a:rPr lang="en-US" sz="1300" dirty="0">
                <a:solidFill>
                  <a:srgbClr val="E8E8E8"/>
                </a:solidFill>
                <a:latin typeface="Arial" pitchFamily="34" charset="0"/>
                <a:ea typeface="Arial" pitchFamily="34" charset="-122"/>
                <a:cs typeface="Arial" pitchFamily="34" charset="-120"/>
              </a:rPr>
              <a:t>No fabricated latency/accuracy benchmarks claimed—pilot metrics to collect: time-to-next-step, referral contact rate, delivered outcomes, staff follow-up time.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A0A"/>
        </a:solidFill>
      </p:bgPr>
    </p:bg>
    <p:spTree>
      <p:nvGrpSpPr>
        <p:cNvPr id="1" name=""/>
        <p:cNvGrpSpPr/>
        <p:nvPr/>
      </p:nvGrpSpPr>
      <p:grpSpPr>
        <a:xfrm>
          <a:off x="0" y="0"/>
          <a:ext cx="0" cy="0"/>
          <a:chOff x="0" y="0"/>
          <a:chExt cx="0" cy="0"/>
        </a:xfrm>
      </p:grpSpPr>
      <p:pic>
        <p:nvPicPr>
          <p:cNvPr id="2" name="Image 0" descr="/home/srvweblpubt02/Documents/personal/accesspath/ppt/assets/header-bar.png">    </p:cNvPr>
          <p:cNvPicPr>
            <a:picLocks noChangeAspect="1"/>
          </p:cNvPicPr>
          <p:nvPr/>
        </p:nvPicPr>
        <p:blipFill>
          <a:blip r:embed="rId1"/>
          <a:stretch>
            <a:fillRect/>
          </a:stretch>
        </p:blipFill>
        <p:spPr>
          <a:xfrm>
            <a:off x="0" y="1"/>
            <a:ext cx="9144000" cy="507359"/>
          </a:xfrm>
          <a:prstGeom prst="rect">
            <a:avLst/>
          </a:prstGeom>
        </p:spPr>
      </p:pic>
      <p:pic>
        <p:nvPicPr>
          <p:cNvPr id="3" name="Image 1" descr="/home/srvweblpubt02/Documents/personal/accesspath/ppt/assets/footer-strip-source.png">    </p:cNvPr>
          <p:cNvPicPr>
            <a:picLocks noChangeAspect="1"/>
          </p:cNvPicPr>
          <p:nvPr/>
        </p:nvPicPr>
        <p:blipFill>
          <a:blip r:embed="rId2"/>
          <a:stretch>
            <a:fillRect/>
          </a:stretch>
        </p:blipFill>
        <p:spPr>
          <a:xfrm>
            <a:off x="0" y="5093562"/>
            <a:ext cx="9144000" cy="54275"/>
          </a:xfrm>
          <a:prstGeom prst="rect">
            <a:avLst/>
          </a:prstGeom>
        </p:spPr>
      </p:pic>
      <p:sp>
        <p:nvSpPr>
          <p:cNvPr id="4" name="Text 0"/>
          <p:cNvSpPr/>
          <p:nvPr/>
        </p:nvSpPr>
        <p:spPr>
          <a:xfrm>
            <a:off x="265176" y="521208"/>
            <a:ext cx="8613648" cy="41148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Additional Details/Future Development (if any)</a:t>
            </a:r>
            <a:endParaRPr lang="en-US" sz="2600" dirty="0"/>
          </a:p>
        </p:txBody>
      </p:sp>
      <p:sp>
        <p:nvSpPr>
          <p:cNvPr id="5" name="Text 1"/>
          <p:cNvSpPr/>
          <p:nvPr/>
        </p:nvSpPr>
        <p:spPr>
          <a:xfrm>
            <a:off x="265176" y="1024128"/>
            <a:ext cx="8613648" cy="3383280"/>
          </a:xfrm>
          <a:prstGeom prst="rect">
            <a:avLst/>
          </a:prstGeom>
          <a:noFill/>
          <a:ln/>
        </p:spPr>
        <p:txBody>
          <a:bodyPr wrap="square" rtlCol="0" anchor="t"/>
          <a:lstStyle/>
          <a:p>
            <a:pPr marL="342900" indent="-342900">
              <a:buSzPct val="100000"/>
              <a:buChar char="•"/>
            </a:pPr>
            <a:r>
              <a:rPr lang="en-US" sz="1300" dirty="0">
                <a:solidFill>
                  <a:srgbClr val="E8E8E8"/>
                </a:solidFill>
                <a:latin typeface="Arial" pitchFamily="34" charset="0"/>
                <a:ea typeface="Arial" pitchFamily="34" charset="-122"/>
                <a:cs typeface="Arial" pitchFamily="34" charset="-120"/>
              </a:rPr>
              <a:t>Pilot with 2–3 real partner organisations in one region after privacy/consent review (replace fictional seed).</a:t>
            </a:r>
            <a:endParaRPr lang="en-US" sz="1300" dirty="0"/>
          </a:p>
          <a:p>
            <a:pPr marL="342900" indent="-342900">
              <a:buSzPct val="100000"/>
              <a:buChar char="•"/>
            </a:pPr>
            <a:r>
              <a:rPr lang="en-US" sz="1300" dirty="0">
                <a:solidFill>
                  <a:srgbClr val="E8E8E8"/>
                </a:solidFill>
                <a:latin typeface="Arial" pitchFamily="34" charset="0"/>
                <a:ea typeface="Arial" pitchFamily="34" charset="-122"/>
                <a:cs typeface="Arial" pitchFamily="34" charset="-120"/>
              </a:rPr>
              <a:t>Expand verified catalogue and languages (e.g. Hindi/Marathi) only after verification operations scale.</a:t>
            </a:r>
            <a:endParaRPr lang="en-US" sz="1300" dirty="0"/>
          </a:p>
          <a:p>
            <a:pPr marL="342900" indent="-342900">
              <a:buSzPct val="100000"/>
              <a:buChar char="•"/>
            </a:pPr>
            <a:r>
              <a:rPr lang="en-US" sz="1300" dirty="0">
                <a:solidFill>
                  <a:srgbClr val="E8E8E8"/>
                </a:solidFill>
                <a:latin typeface="Arial" pitchFamily="34" charset="0"/>
                <a:ea typeface="Arial" pitchFamily="34" charset="-122"/>
                <a:cs typeface="Arial" pitchFamily="34" charset="-120"/>
              </a:rPr>
              <a:t>Notifications for stalled cases (SMS/email) when a provider is configured—not claimed in MVP.</a:t>
            </a:r>
            <a:endParaRPr lang="en-US" sz="1300" dirty="0"/>
          </a:p>
          <a:p>
            <a:pPr marL="342900" indent="-342900">
              <a:buSzPct val="100000"/>
              <a:buChar char="•"/>
            </a:pPr>
            <a:r>
              <a:rPr lang="en-US" sz="1300" dirty="0">
                <a:solidFill>
                  <a:srgbClr val="E8E8E8"/>
                </a:solidFill>
                <a:latin typeface="Arial" pitchFamily="34" charset="0"/>
                <a:ea typeface="Arial" pitchFamily="34" charset="-122"/>
                <a:cs typeface="Arial" pitchFamily="34" charset="-120"/>
              </a:rPr>
              <a:t>Stronger document checklists and accessibility tooling beyond current smoke criteria.</a:t>
            </a:r>
            <a:endParaRPr lang="en-US" sz="1300" dirty="0"/>
          </a:p>
          <a:p>
            <a:pPr marL="342900" indent="-342900">
              <a:buSzPct val="100000"/>
              <a:buChar char="•"/>
            </a:pPr>
            <a:r>
              <a:rPr lang="en-US" sz="1300" dirty="0">
                <a:solidFill>
                  <a:srgbClr val="E8E8E8"/>
                </a:solidFill>
                <a:latin typeface="Arial" pitchFamily="34" charset="0"/>
                <a:ea typeface="Arial" pitchFamily="34" charset="-122"/>
                <a:cs typeface="Arial" pitchFamily="34" charset="-120"/>
              </a:rPr>
              <a:t>Measure willingness-to-pay for org coordination &amp; reporting (B2B), keep basic user guidance free early.</a:t>
            </a:r>
            <a:endParaRPr lang="en-US" sz="1300" dirty="0"/>
          </a:p>
          <a:p>
            <a:pPr marL="342900" indent="-342900">
              <a:buSzPct val="100000"/>
              <a:buChar char="•"/>
            </a:pPr>
            <a:r>
              <a:rPr lang="en-US" sz="1300" dirty="0">
                <a:solidFill>
                  <a:srgbClr val="E8E8E8"/>
                </a:solidFill>
                <a:latin typeface="Arial" pitchFamily="34" charset="0"/>
                <a:ea typeface="Arial" pitchFamily="34" charset="-122"/>
                <a:cs typeface="Arial" pitchFamily="34" charset="-120"/>
              </a:rPr>
              <a:t>Explicit non-goals remain: no diagnosis, no eligibility guarantees, no auto-filing to government systems, no payments/insurance processing.</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A0A"/>
        </a:solidFill>
      </p:bgPr>
    </p:bg>
    <p:spTree>
      <p:nvGrpSpPr>
        <p:cNvPr id="1" name=""/>
        <p:cNvGrpSpPr/>
        <p:nvPr/>
      </p:nvGrpSpPr>
      <p:grpSpPr>
        <a:xfrm>
          <a:off x="0" y="0"/>
          <a:ext cx="0" cy="0"/>
          <a:chOff x="0" y="0"/>
          <a:chExt cx="0" cy="0"/>
        </a:xfrm>
      </p:grpSpPr>
      <p:pic>
        <p:nvPicPr>
          <p:cNvPr id="2" name="Image 0" descr="/home/srvweblpubt02/Documents/personal/accesspath/ppt/assets/header-bar.png">    </p:cNvPr>
          <p:cNvPicPr>
            <a:picLocks noChangeAspect="1"/>
          </p:cNvPicPr>
          <p:nvPr/>
        </p:nvPicPr>
        <p:blipFill>
          <a:blip r:embed="rId1"/>
          <a:stretch>
            <a:fillRect/>
          </a:stretch>
        </p:blipFill>
        <p:spPr>
          <a:xfrm>
            <a:off x="0" y="1"/>
            <a:ext cx="9144000" cy="507359"/>
          </a:xfrm>
          <a:prstGeom prst="rect">
            <a:avLst/>
          </a:prstGeom>
        </p:spPr>
      </p:pic>
      <p:pic>
        <p:nvPicPr>
          <p:cNvPr id="3" name="Image 1" descr="/home/srvweblpubt02/Documents/personal/accesspath/ppt/assets/footer-strip-source.png">    </p:cNvPr>
          <p:cNvPicPr>
            <a:picLocks noChangeAspect="1"/>
          </p:cNvPicPr>
          <p:nvPr/>
        </p:nvPicPr>
        <p:blipFill>
          <a:blip r:embed="rId2"/>
          <a:stretch>
            <a:fillRect/>
          </a:stretch>
        </p:blipFill>
        <p:spPr>
          <a:xfrm>
            <a:off x="0" y="5093562"/>
            <a:ext cx="9144000" cy="54275"/>
          </a:xfrm>
          <a:prstGeom prst="rect">
            <a:avLst/>
          </a:prstGeom>
        </p:spPr>
      </p:pic>
      <p:sp>
        <p:nvSpPr>
          <p:cNvPr id="4" name="Text 0"/>
          <p:cNvSpPr/>
          <p:nvPr/>
        </p:nvSpPr>
        <p:spPr>
          <a:xfrm>
            <a:off x="265176" y="521208"/>
            <a:ext cx="8613648" cy="41148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Provide links to your:</a:t>
            </a:r>
            <a:endParaRPr lang="en-US" sz="2600" dirty="0"/>
          </a:p>
        </p:txBody>
      </p:sp>
      <p:sp>
        <p:nvSpPr>
          <p:cNvPr id="5" name="Shape 1"/>
          <p:cNvSpPr/>
          <p:nvPr/>
        </p:nvSpPr>
        <p:spPr>
          <a:xfrm>
            <a:off x="265176" y="1161288"/>
            <a:ext cx="8412480" cy="868680"/>
          </a:xfrm>
          <a:prstGeom prst="roundRect">
            <a:avLst>
              <a:gd name="adj" fmla="val 10526"/>
            </a:avLst>
          </a:prstGeom>
          <a:solidFill>
            <a:srgbClr val="1A1A1A"/>
          </a:solidFill>
          <a:ln w="12700">
            <a:solidFill>
              <a:srgbClr val="333333"/>
            </a:solidFill>
            <a:prstDash val="solid"/>
          </a:ln>
        </p:spPr>
      </p:sp>
      <p:sp>
        <p:nvSpPr>
          <p:cNvPr id="6" name="Text 2"/>
          <p:cNvSpPr/>
          <p:nvPr/>
        </p:nvSpPr>
        <p:spPr>
          <a:xfrm>
            <a:off x="493776" y="1271016"/>
            <a:ext cx="7955280" cy="27432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GitHub Public Repository</a:t>
            </a:r>
            <a:endParaRPr lang="en-US" sz="1400" dirty="0"/>
          </a:p>
        </p:txBody>
      </p:sp>
      <p:sp>
        <p:nvSpPr>
          <p:cNvPr id="7" name="Text 3"/>
          <p:cNvSpPr/>
          <p:nvPr/>
        </p:nvSpPr>
        <p:spPr>
          <a:xfrm>
            <a:off x="493776" y="1572768"/>
            <a:ext cx="7955280" cy="365760"/>
          </a:xfrm>
          <a:prstGeom prst="rect">
            <a:avLst/>
          </a:prstGeom>
          <a:noFill/>
          <a:ln/>
        </p:spPr>
        <p:txBody>
          <a:bodyPr wrap="square" rtlCol="0" anchor="ctr"/>
          <a:lstStyle/>
          <a:p>
            <a:pPr indent="0" marL="0">
              <a:buNone/>
            </a:pPr>
            <a:r>
              <a:rPr lang="en-US" sz="1200" dirty="0">
                <a:solidFill>
                  <a:srgbClr val="4285F4"/>
                </a:solidFill>
                <a:latin typeface="Arial" pitchFamily="34" charset="0"/>
                <a:ea typeface="Arial" pitchFamily="34" charset="-122"/>
                <a:cs typeface="Arial" pitchFamily="34" charset="-120"/>
              </a:rPr>
              <a:t>https://github.com/dipeshjagtap/accesspath</a:t>
            </a:r>
            <a:endParaRPr lang="en-US" sz="1200" dirty="0"/>
          </a:p>
        </p:txBody>
      </p:sp>
      <p:sp>
        <p:nvSpPr>
          <p:cNvPr id="8" name="Shape 4"/>
          <p:cNvSpPr/>
          <p:nvPr/>
        </p:nvSpPr>
        <p:spPr>
          <a:xfrm>
            <a:off x="265176" y="2212848"/>
            <a:ext cx="8412480" cy="868680"/>
          </a:xfrm>
          <a:prstGeom prst="roundRect">
            <a:avLst>
              <a:gd name="adj" fmla="val 10526"/>
            </a:avLst>
          </a:prstGeom>
          <a:solidFill>
            <a:srgbClr val="1A1A1A"/>
          </a:solidFill>
          <a:ln w="12700">
            <a:solidFill>
              <a:srgbClr val="333333"/>
            </a:solidFill>
            <a:prstDash val="solid"/>
          </a:ln>
        </p:spPr>
      </p:sp>
      <p:sp>
        <p:nvSpPr>
          <p:cNvPr id="9" name="Text 5"/>
          <p:cNvSpPr/>
          <p:nvPr/>
        </p:nvSpPr>
        <p:spPr>
          <a:xfrm>
            <a:off x="493776" y="2322576"/>
            <a:ext cx="7955280" cy="27432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Demo Video Link (3 Minutes)</a:t>
            </a:r>
            <a:endParaRPr lang="en-US" sz="1400" dirty="0"/>
          </a:p>
        </p:txBody>
      </p:sp>
      <p:sp>
        <p:nvSpPr>
          <p:cNvPr id="10" name="Text 6"/>
          <p:cNvSpPr/>
          <p:nvPr/>
        </p:nvSpPr>
        <p:spPr>
          <a:xfrm>
            <a:off x="493776" y="2624328"/>
            <a:ext cx="7955280" cy="365760"/>
          </a:xfrm>
          <a:prstGeom prst="rect">
            <a:avLst/>
          </a:prstGeom>
          <a:noFill/>
          <a:ln/>
        </p:spPr>
        <p:txBody>
          <a:bodyPr wrap="square" rtlCol="0" anchor="ctr"/>
          <a:lstStyle/>
          <a:p>
            <a:pPr indent="0" marL="0">
              <a:buNone/>
            </a:pPr>
            <a:r>
              <a:rPr lang="en-US" sz="1200" dirty="0">
                <a:solidFill>
                  <a:srgbClr val="4285F4"/>
                </a:solidFill>
                <a:latin typeface="Arial" pitchFamily="34" charset="0"/>
                <a:ea typeface="Arial" pitchFamily="34" charset="-122"/>
                <a:cs typeface="Arial" pitchFamily="34" charset="-120"/>
              </a:rPr>
              <a:t>To be attached / uploaded with submission (script in docs/DEMO_VIDEO.md)</a:t>
            </a:r>
            <a:endParaRPr lang="en-US" sz="1200" dirty="0"/>
          </a:p>
        </p:txBody>
      </p:sp>
      <p:sp>
        <p:nvSpPr>
          <p:cNvPr id="11" name="Shape 7"/>
          <p:cNvSpPr/>
          <p:nvPr/>
        </p:nvSpPr>
        <p:spPr>
          <a:xfrm>
            <a:off x="265176" y="3264408"/>
            <a:ext cx="8412480" cy="868680"/>
          </a:xfrm>
          <a:prstGeom prst="roundRect">
            <a:avLst>
              <a:gd name="adj" fmla="val 10526"/>
            </a:avLst>
          </a:prstGeom>
          <a:solidFill>
            <a:srgbClr val="1A1A1A"/>
          </a:solidFill>
          <a:ln w="12700">
            <a:solidFill>
              <a:srgbClr val="333333"/>
            </a:solidFill>
            <a:prstDash val="solid"/>
          </a:ln>
        </p:spPr>
      </p:sp>
      <p:sp>
        <p:nvSpPr>
          <p:cNvPr id="12" name="Text 8"/>
          <p:cNvSpPr/>
          <p:nvPr/>
        </p:nvSpPr>
        <p:spPr>
          <a:xfrm>
            <a:off x="493776" y="3374136"/>
            <a:ext cx="7955280" cy="27432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Final Product Link</a:t>
            </a:r>
            <a:endParaRPr lang="en-US" sz="1400" dirty="0"/>
          </a:p>
        </p:txBody>
      </p:sp>
      <p:sp>
        <p:nvSpPr>
          <p:cNvPr id="13" name="Text 9"/>
          <p:cNvSpPr/>
          <p:nvPr/>
        </p:nvSpPr>
        <p:spPr>
          <a:xfrm>
            <a:off x="493776" y="3675888"/>
            <a:ext cx="7955280" cy="365760"/>
          </a:xfrm>
          <a:prstGeom prst="rect">
            <a:avLst/>
          </a:prstGeom>
          <a:noFill/>
          <a:ln/>
        </p:spPr>
        <p:txBody>
          <a:bodyPr wrap="square" rtlCol="0" anchor="ctr"/>
          <a:lstStyle/>
          <a:p>
            <a:pPr indent="0" marL="0">
              <a:buNone/>
            </a:pPr>
            <a:r>
              <a:rPr lang="en-US" sz="1200" dirty="0">
                <a:solidFill>
                  <a:srgbClr val="4285F4"/>
                </a:solidFill>
                <a:latin typeface="Arial" pitchFamily="34" charset="0"/>
                <a:ea typeface="Arial" pitchFamily="34" charset="-122"/>
                <a:cs typeface="Arial" pitchFamily="34" charset="-120"/>
              </a:rPr>
              <a:t>Deploy via docs/DEPLOYMENT.md to Cloud Run; set NEXT_PUBLIC_APP_URL after first deploy. Local: http://localhost:3000</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A0A"/>
        </a:solidFill>
      </p:bgPr>
    </p:bg>
    <p:spTree>
      <p:nvGrpSpPr>
        <p:cNvPr id="1" name=""/>
        <p:cNvGrpSpPr/>
        <p:nvPr/>
      </p:nvGrpSpPr>
      <p:grpSpPr>
        <a:xfrm>
          <a:off x="0" y="0"/>
          <a:ext cx="0" cy="0"/>
          <a:chOff x="0" y="0"/>
          <a:chExt cx="0" cy="0"/>
        </a:xfrm>
      </p:grpSpPr>
      <p:pic>
        <p:nvPicPr>
          <p:cNvPr id="2" name="Image 0" descr="/home/srvweblpubt02/Documents/personal/accesspath/ppt/assets/header-bar.png">    </p:cNvPr>
          <p:cNvPicPr>
            <a:picLocks noChangeAspect="1"/>
          </p:cNvPicPr>
          <p:nvPr/>
        </p:nvPicPr>
        <p:blipFill>
          <a:blip r:embed="rId1"/>
          <a:stretch>
            <a:fillRect/>
          </a:stretch>
        </p:blipFill>
        <p:spPr>
          <a:xfrm>
            <a:off x="0" y="1"/>
            <a:ext cx="9144000" cy="507359"/>
          </a:xfrm>
          <a:prstGeom prst="rect">
            <a:avLst/>
          </a:prstGeom>
        </p:spPr>
      </p:pic>
      <p:pic>
        <p:nvPicPr>
          <p:cNvPr id="3" name="Image 1" descr="/home/srvweblpubt02/Documents/personal/accesspath/ppt/assets/footer-strip-source.png">    </p:cNvPr>
          <p:cNvPicPr>
            <a:picLocks noChangeAspect="1"/>
          </p:cNvPicPr>
          <p:nvPr/>
        </p:nvPicPr>
        <p:blipFill>
          <a:blip r:embed="rId2"/>
          <a:stretch>
            <a:fillRect/>
          </a:stretch>
        </p:blipFill>
        <p:spPr>
          <a:xfrm>
            <a:off x="0" y="5093562"/>
            <a:ext cx="9144000" cy="54275"/>
          </a:xfrm>
          <a:prstGeom prst="rect">
            <a:avLst/>
          </a:prstGeom>
        </p:spPr>
      </p:pic>
      <p:sp>
        <p:nvSpPr>
          <p:cNvPr id="4" name="Text 0"/>
          <p:cNvSpPr/>
          <p:nvPr/>
        </p:nvSpPr>
        <p:spPr>
          <a:xfrm>
            <a:off x="265176" y="521208"/>
            <a:ext cx="8613648" cy="41148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Target users &amp; illustrative use case</a:t>
            </a:r>
            <a:endParaRPr lang="en-US" sz="2600" dirty="0"/>
          </a:p>
        </p:txBody>
      </p:sp>
      <p:sp>
        <p:nvSpPr>
          <p:cNvPr id="5" name="Text 1"/>
          <p:cNvSpPr/>
          <p:nvPr/>
        </p:nvSpPr>
        <p:spPr>
          <a:xfrm>
            <a:off x="265176" y="978408"/>
            <a:ext cx="4023360" cy="274320"/>
          </a:xfrm>
          <a:prstGeom prst="rect">
            <a:avLst/>
          </a:prstGeom>
          <a:noFill/>
          <a:ln/>
        </p:spPr>
        <p:txBody>
          <a:bodyPr wrap="square" rtlCol="0" anchor="ctr"/>
          <a:lstStyle/>
          <a:p>
            <a:pPr indent="0" marL="0">
              <a:buNone/>
            </a:pPr>
            <a:r>
              <a:rPr lang="en-US" sz="1400" b="1" dirty="0">
                <a:solidFill>
                  <a:srgbClr val="FBBC04"/>
                </a:solidFill>
                <a:latin typeface="Arial" pitchFamily="34" charset="0"/>
                <a:ea typeface="Arial" pitchFamily="34" charset="-122"/>
                <a:cs typeface="Arial" pitchFamily="34" charset="-120"/>
              </a:rPr>
              <a:t>Primary user</a:t>
            </a:r>
            <a:endParaRPr lang="en-US" sz="1400" dirty="0"/>
          </a:p>
        </p:txBody>
      </p:sp>
      <p:sp>
        <p:nvSpPr>
          <p:cNvPr id="6" name="Text 2"/>
          <p:cNvSpPr/>
          <p:nvPr/>
        </p:nvSpPr>
        <p:spPr>
          <a:xfrm>
            <a:off x="265176" y="1252728"/>
            <a:ext cx="4023360" cy="777240"/>
          </a:xfrm>
          <a:prstGeom prst="rect">
            <a:avLst/>
          </a:prstGeom>
          <a:noFill/>
          <a:ln/>
        </p:spPr>
        <p:txBody>
          <a:bodyPr wrap="square" rtlCol="0" anchor="ctr"/>
          <a:lstStyle/>
          <a:p>
            <a:pPr indent="0" marL="0">
              <a:buNone/>
            </a:pPr>
            <a:r>
              <a:rPr lang="en-US" sz="1200" dirty="0">
                <a:solidFill>
                  <a:srgbClr val="E8E8E8"/>
                </a:solidFill>
                <a:latin typeface="Arial" pitchFamily="34" charset="0"/>
                <a:ea typeface="Arial" pitchFamily="34" charset="-122"/>
                <a:cs typeface="Arial" pitchFamily="34" charset="-120"/>
              </a:rPr>
              <a:t>Caregiver or person seeking disability/health or mobility-related support navigation (also education &amp; essential needs).</a:t>
            </a:r>
            <a:endParaRPr lang="en-US" sz="1200" dirty="0"/>
          </a:p>
        </p:txBody>
      </p:sp>
      <p:sp>
        <p:nvSpPr>
          <p:cNvPr id="7" name="Text 3"/>
          <p:cNvSpPr/>
          <p:nvPr/>
        </p:nvSpPr>
        <p:spPr>
          <a:xfrm>
            <a:off x="4846320" y="978408"/>
            <a:ext cx="4023360" cy="274320"/>
          </a:xfrm>
          <a:prstGeom prst="rect">
            <a:avLst/>
          </a:prstGeom>
          <a:noFill/>
          <a:ln/>
        </p:spPr>
        <p:txBody>
          <a:bodyPr wrap="square" rtlCol="0" anchor="ctr"/>
          <a:lstStyle/>
          <a:p>
            <a:pPr indent="0" marL="0">
              <a:buNone/>
            </a:pPr>
            <a:r>
              <a:rPr lang="en-US" sz="1400" b="1" dirty="0">
                <a:solidFill>
                  <a:srgbClr val="FBBC04"/>
                </a:solidFill>
                <a:latin typeface="Arial" pitchFamily="34" charset="0"/>
                <a:ea typeface="Arial" pitchFamily="34" charset="-122"/>
                <a:cs typeface="Arial" pitchFamily="34" charset="-120"/>
              </a:rPr>
              <a:t>Organisational stakeholder</a:t>
            </a:r>
            <a:endParaRPr lang="en-US" sz="1400" dirty="0"/>
          </a:p>
        </p:txBody>
      </p:sp>
      <p:sp>
        <p:nvSpPr>
          <p:cNvPr id="8" name="Text 4"/>
          <p:cNvSpPr/>
          <p:nvPr/>
        </p:nvSpPr>
        <p:spPr>
          <a:xfrm>
            <a:off x="4846320" y="1252728"/>
            <a:ext cx="4023360" cy="777240"/>
          </a:xfrm>
          <a:prstGeom prst="rect">
            <a:avLst/>
          </a:prstGeom>
          <a:noFill/>
          <a:ln/>
        </p:spPr>
        <p:txBody>
          <a:bodyPr wrap="square" rtlCol="0" anchor="ctr"/>
          <a:lstStyle/>
          <a:p>
            <a:pPr indent="0" marL="0">
              <a:buNone/>
            </a:pPr>
            <a:r>
              <a:rPr lang="en-US" sz="1200" dirty="0">
                <a:solidFill>
                  <a:srgbClr val="E8E8E8"/>
                </a:solidFill>
                <a:latin typeface="Arial" pitchFamily="34" charset="0"/>
                <a:ea typeface="Arial" pitchFamily="34" charset="-122"/>
                <a:cs typeface="Arial" pitchFamily="34" charset="-120"/>
              </a:rPr>
              <a:t>NGO / rehab caseworkers and org admins who publish programmes and update cases to outcomes; platform admin verifies providers.</a:t>
            </a:r>
            <a:endParaRPr lang="en-US" sz="1200" dirty="0"/>
          </a:p>
        </p:txBody>
      </p:sp>
      <p:sp>
        <p:nvSpPr>
          <p:cNvPr id="9" name="Shape 5"/>
          <p:cNvSpPr/>
          <p:nvPr/>
        </p:nvSpPr>
        <p:spPr>
          <a:xfrm>
            <a:off x="265176" y="2167128"/>
            <a:ext cx="8412480" cy="2148840"/>
          </a:xfrm>
          <a:prstGeom prst="roundRect">
            <a:avLst>
              <a:gd name="adj" fmla="val 4255"/>
            </a:avLst>
          </a:prstGeom>
          <a:solidFill>
            <a:srgbClr val="1A1A1A"/>
          </a:solidFill>
          <a:ln w="12700">
            <a:solidFill>
              <a:srgbClr val="333333"/>
            </a:solidFill>
            <a:prstDash val="solid"/>
          </a:ln>
        </p:spPr>
      </p:sp>
      <p:sp>
        <p:nvSpPr>
          <p:cNvPr id="10" name="Text 6"/>
          <p:cNvSpPr/>
          <p:nvPr/>
        </p:nvSpPr>
        <p:spPr>
          <a:xfrm>
            <a:off x="493776" y="2304288"/>
            <a:ext cx="7955280" cy="27432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Illustrative example (fictional demo data only)</a:t>
            </a:r>
            <a:endParaRPr lang="en-US" sz="1300" dirty="0"/>
          </a:p>
        </p:txBody>
      </p:sp>
      <p:sp>
        <p:nvSpPr>
          <p:cNvPr id="11" name="Text 7"/>
          <p:cNvSpPr/>
          <p:nvPr/>
        </p:nvSpPr>
        <p:spPr>
          <a:xfrm>
            <a:off x="493776" y="2670048"/>
            <a:ext cx="7955280" cy="1463040"/>
          </a:xfrm>
          <a:prstGeom prst="rect">
            <a:avLst/>
          </a:prstGeom>
          <a:noFill/>
          <a:ln/>
        </p:spPr>
        <p:txBody>
          <a:bodyPr wrap="square" rtlCol="0" anchor="ctr"/>
          <a:lstStyle/>
          <a:p>
            <a:pPr indent="0" marL="0">
              <a:buNone/>
            </a:pPr>
            <a:r>
              <a:rPr lang="en-US" sz="1200" dirty="0">
                <a:solidFill>
                  <a:srgbClr val="E8E8E8"/>
                </a:solidFill>
                <a:latin typeface="Arial" pitchFamily="34" charset="0"/>
                <a:ea typeface="Arial" pitchFamily="34" charset="-122"/>
                <a:cs typeface="Arial" pitchFamily="34" charset="-120"/>
              </a:rPr>
              <a:t>Riya Sharma (demo user) describes a disability/health support need in Pune, Maharashtra (demo). She confirms the summary, receives a plan referencing verified programmes such as the Demo Mobility Navigation Clinic from Sahara Community Support Network (demo). She consents to share selected fields. Caseworker Asha Kulkarni reviews the case; if declined, Riya can consent to an alternative with Nirmal Alternative Care Desk (demo) and track status through to assistance delivered—or another recorded outcome.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A0A"/>
        </a:solidFill>
      </p:bgPr>
    </p:bg>
    <p:spTree>
      <p:nvGrpSpPr>
        <p:cNvPr id="1" name=""/>
        <p:cNvGrpSpPr/>
        <p:nvPr/>
      </p:nvGrpSpPr>
      <p:grpSpPr>
        <a:xfrm>
          <a:off x="0" y="0"/>
          <a:ext cx="0" cy="0"/>
          <a:chOff x="0" y="0"/>
          <a:chExt cx="0" cy="0"/>
        </a:xfrm>
      </p:grpSpPr>
      <p:pic>
        <p:nvPicPr>
          <p:cNvPr id="2" name="Image 0" descr="/home/srvweblpubt02/Documents/personal/accesspath/ppt/assets/thank-you.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home/srvweblpubt02/Documents/personal/accesspath/ppt/assets/footer-strip-source.png">    </p:cNvPr>
          <p:cNvPicPr>
            <a:picLocks noChangeAspect="1"/>
          </p:cNvPicPr>
          <p:nvPr/>
        </p:nvPicPr>
        <p:blipFill>
          <a:blip r:embed="rId2"/>
          <a:stretch>
            <a:fillRect/>
          </a:stretch>
        </p:blipFill>
        <p:spPr>
          <a:xfrm>
            <a:off x="0" y="5093562"/>
            <a:ext cx="9144000" cy="5427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AccessPath AI — AI Builder Cup 2026 Submission</dc:title>
  <dc:subject>Official submission deck (template structure preserved)</dc:subject>
  <dc:creator>AccessPath AI</dc:creator>
  <cp:lastModifiedBy>AccessPath AI</cp:lastModifiedBy>
  <cp:revision>1</cp:revision>
  <dcterms:created xsi:type="dcterms:W3CDTF">2026-10-16T13:48:51Z</dcterms:created>
  <dcterms:modified xsi:type="dcterms:W3CDTF">2026-10-16T13:48:51Z</dcterms:modified>
</cp:coreProperties>
</file>